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0"/>
  </p:notesMasterIdLst>
  <p:sldIdLst>
    <p:sldId id="266" r:id="rId5"/>
    <p:sldId id="271" r:id="rId6"/>
    <p:sldId id="272" r:id="rId7"/>
    <p:sldId id="273" r:id="rId8"/>
    <p:sldId id="274" r:id="rId9"/>
    <p:sldId id="275" r:id="rId10"/>
    <p:sldId id="276" r:id="rId11"/>
    <p:sldId id="283" r:id="rId12"/>
    <p:sldId id="284" r:id="rId13"/>
    <p:sldId id="285" r:id="rId14"/>
    <p:sldId id="278" r:id="rId15"/>
    <p:sldId id="279" r:id="rId16"/>
    <p:sldId id="280" r:id="rId17"/>
    <p:sldId id="281" r:id="rId18"/>
    <p:sldId id="28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2EDC24-7D07-4568-8F30-AFBFDA7B9E1C}" v="23" dt="2024-10-26T20:56:56.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71"/>
  </p:normalViewPr>
  <p:slideViewPr>
    <p:cSldViewPr snapToGrid="0">
      <p:cViewPr varScale="1">
        <p:scale>
          <a:sx n="104" d="100"/>
          <a:sy n="104" d="100"/>
        </p:scale>
        <p:origin x="93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uri Satya" userId="a4031cbbc628aaba" providerId="LiveId" clId="{D42EDC24-7D07-4568-8F30-AFBFDA7B9E1C}"/>
    <pc:docChg chg="undo custSel addSld delSld modSld">
      <pc:chgData name="Alluri Satya" userId="a4031cbbc628aaba" providerId="LiveId" clId="{D42EDC24-7D07-4568-8F30-AFBFDA7B9E1C}" dt="2024-10-26T20:59:35.473" v="414" actId="207"/>
      <pc:docMkLst>
        <pc:docMk/>
      </pc:docMkLst>
      <pc:sldChg chg="modSp mod">
        <pc:chgData name="Alluri Satya" userId="a4031cbbc628aaba" providerId="LiveId" clId="{D42EDC24-7D07-4568-8F30-AFBFDA7B9E1C}" dt="2024-10-26T20:29:44.678" v="123" actId="207"/>
        <pc:sldMkLst>
          <pc:docMk/>
          <pc:sldMk cId="3857310067" sldId="266"/>
        </pc:sldMkLst>
        <pc:spChg chg="mod">
          <ac:chgData name="Alluri Satya" userId="a4031cbbc628aaba" providerId="LiveId" clId="{D42EDC24-7D07-4568-8F30-AFBFDA7B9E1C}" dt="2024-10-26T20:29:44.678" v="123" actId="207"/>
          <ac:spMkLst>
            <pc:docMk/>
            <pc:sldMk cId="3857310067" sldId="266"/>
            <ac:spMk id="2" creationId="{DD812CC5-3F64-4837-AE94-66C400A325B0}"/>
          </ac:spMkLst>
        </pc:spChg>
      </pc:sldChg>
      <pc:sldChg chg="modSp mod">
        <pc:chgData name="Alluri Satya" userId="a4031cbbc628aaba" providerId="LiveId" clId="{D42EDC24-7D07-4568-8F30-AFBFDA7B9E1C}" dt="2024-10-26T20:20:22.295" v="37" actId="207"/>
        <pc:sldMkLst>
          <pc:docMk/>
          <pc:sldMk cId="1517125779" sldId="271"/>
        </pc:sldMkLst>
        <pc:spChg chg="mod">
          <ac:chgData name="Alluri Satya" userId="a4031cbbc628aaba" providerId="LiveId" clId="{D42EDC24-7D07-4568-8F30-AFBFDA7B9E1C}" dt="2024-10-26T20:20:16.563" v="36" actId="207"/>
          <ac:spMkLst>
            <pc:docMk/>
            <pc:sldMk cId="1517125779" sldId="271"/>
            <ac:spMk id="2" creationId="{5FB4C917-D382-8A44-53FD-FFC54751BF3C}"/>
          </ac:spMkLst>
        </pc:spChg>
        <pc:spChg chg="mod">
          <ac:chgData name="Alluri Satya" userId="a4031cbbc628aaba" providerId="LiveId" clId="{D42EDC24-7D07-4568-8F30-AFBFDA7B9E1C}" dt="2024-10-26T20:20:22.295" v="37" actId="207"/>
          <ac:spMkLst>
            <pc:docMk/>
            <pc:sldMk cId="1517125779" sldId="271"/>
            <ac:spMk id="3" creationId="{3223B6CF-C242-C4DF-7247-1D1CC2F596C7}"/>
          </ac:spMkLst>
        </pc:spChg>
      </pc:sldChg>
      <pc:sldChg chg="modSp mod">
        <pc:chgData name="Alluri Satya" userId="a4031cbbc628aaba" providerId="LiveId" clId="{D42EDC24-7D07-4568-8F30-AFBFDA7B9E1C}" dt="2024-10-26T20:21:02.464" v="41" actId="1076"/>
        <pc:sldMkLst>
          <pc:docMk/>
          <pc:sldMk cId="2032248493" sldId="272"/>
        </pc:sldMkLst>
        <pc:spChg chg="mod">
          <ac:chgData name="Alluri Satya" userId="a4031cbbc628aaba" providerId="LiveId" clId="{D42EDC24-7D07-4568-8F30-AFBFDA7B9E1C}" dt="2024-10-26T20:20:45.792" v="39" actId="207"/>
          <ac:spMkLst>
            <pc:docMk/>
            <pc:sldMk cId="2032248493" sldId="272"/>
            <ac:spMk id="2" creationId="{2BC42D19-6162-A5F8-5CEF-CDD0F4A7D5AB}"/>
          </ac:spMkLst>
        </pc:spChg>
        <pc:spChg chg="mod">
          <ac:chgData name="Alluri Satya" userId="a4031cbbc628aaba" providerId="LiveId" clId="{D42EDC24-7D07-4568-8F30-AFBFDA7B9E1C}" dt="2024-10-26T20:21:02.464" v="41" actId="1076"/>
          <ac:spMkLst>
            <pc:docMk/>
            <pc:sldMk cId="2032248493" sldId="272"/>
            <ac:spMk id="3" creationId="{E85F8F7C-6F58-EF04-2917-04C44B3189B6}"/>
          </ac:spMkLst>
        </pc:spChg>
      </pc:sldChg>
      <pc:sldChg chg="modSp new mod">
        <pc:chgData name="Alluri Satya" userId="a4031cbbc628aaba" providerId="LiveId" clId="{D42EDC24-7D07-4568-8F30-AFBFDA7B9E1C}" dt="2024-10-26T20:19:52.604" v="33" actId="113"/>
        <pc:sldMkLst>
          <pc:docMk/>
          <pc:sldMk cId="2069089207" sldId="273"/>
        </pc:sldMkLst>
        <pc:spChg chg="mod">
          <ac:chgData name="Alluri Satya" userId="a4031cbbc628aaba" providerId="LiveId" clId="{D42EDC24-7D07-4568-8F30-AFBFDA7B9E1C}" dt="2024-10-26T20:19:52.604" v="33" actId="113"/>
          <ac:spMkLst>
            <pc:docMk/>
            <pc:sldMk cId="2069089207" sldId="273"/>
            <ac:spMk id="2" creationId="{5ACFB60D-B73E-7731-DC91-8B0DCBF77E89}"/>
          </ac:spMkLst>
        </pc:spChg>
        <pc:spChg chg="mod">
          <ac:chgData name="Alluri Satya" userId="a4031cbbc628aaba" providerId="LiveId" clId="{D42EDC24-7D07-4568-8F30-AFBFDA7B9E1C}" dt="2024-10-26T20:19:42.980" v="32" actId="1076"/>
          <ac:spMkLst>
            <pc:docMk/>
            <pc:sldMk cId="2069089207" sldId="273"/>
            <ac:spMk id="3" creationId="{F89E858D-4B7F-7664-8B69-F4EE2859C476}"/>
          </ac:spMkLst>
        </pc:spChg>
      </pc:sldChg>
      <pc:sldChg chg="addSp delSp modSp new mod">
        <pc:chgData name="Alluri Satya" userId="a4031cbbc628aaba" providerId="LiveId" clId="{D42EDC24-7D07-4568-8F30-AFBFDA7B9E1C}" dt="2024-10-26T20:24:04.638" v="86" actId="113"/>
        <pc:sldMkLst>
          <pc:docMk/>
          <pc:sldMk cId="3636869727" sldId="274"/>
        </pc:sldMkLst>
        <pc:spChg chg="mod">
          <ac:chgData name="Alluri Satya" userId="a4031cbbc628aaba" providerId="LiveId" clId="{D42EDC24-7D07-4568-8F30-AFBFDA7B9E1C}" dt="2024-10-26T20:23:21.808" v="75" actId="14100"/>
          <ac:spMkLst>
            <pc:docMk/>
            <pc:sldMk cId="3636869727" sldId="274"/>
            <ac:spMk id="2" creationId="{C6054620-3B04-28BE-34C3-6B6F08A8122B}"/>
          </ac:spMkLst>
        </pc:spChg>
        <pc:spChg chg="add del mod">
          <ac:chgData name="Alluri Satya" userId="a4031cbbc628aaba" providerId="LiveId" clId="{D42EDC24-7D07-4568-8F30-AFBFDA7B9E1C}" dt="2024-10-26T20:24:04.638" v="86" actId="113"/>
          <ac:spMkLst>
            <pc:docMk/>
            <pc:sldMk cId="3636869727" sldId="274"/>
            <ac:spMk id="3" creationId="{0DC5BCFF-EA3C-CB0A-B870-DFC1DAC9A803}"/>
          </ac:spMkLst>
        </pc:spChg>
        <pc:spChg chg="add mod">
          <ac:chgData name="Alluri Satya" userId="a4031cbbc628aaba" providerId="LiveId" clId="{D42EDC24-7D07-4568-8F30-AFBFDA7B9E1C}" dt="2024-10-26T20:22:03.815" v="46"/>
          <ac:spMkLst>
            <pc:docMk/>
            <pc:sldMk cId="3636869727" sldId="274"/>
            <ac:spMk id="4" creationId="{FBAB80D8-0264-1162-C779-1E579236F577}"/>
          </ac:spMkLst>
        </pc:spChg>
      </pc:sldChg>
      <pc:sldChg chg="addSp delSp modSp new mod">
        <pc:chgData name="Alluri Satya" userId="a4031cbbc628aaba" providerId="LiveId" clId="{D42EDC24-7D07-4568-8F30-AFBFDA7B9E1C}" dt="2024-10-26T20:59:35.473" v="414" actId="207"/>
        <pc:sldMkLst>
          <pc:docMk/>
          <pc:sldMk cId="4228812758" sldId="275"/>
        </pc:sldMkLst>
        <pc:spChg chg="mod">
          <ac:chgData name="Alluri Satya" userId="a4031cbbc628aaba" providerId="LiveId" clId="{D42EDC24-7D07-4568-8F30-AFBFDA7B9E1C}" dt="2024-10-26T20:59:35.473" v="414" actId="207"/>
          <ac:spMkLst>
            <pc:docMk/>
            <pc:sldMk cId="4228812758" sldId="275"/>
            <ac:spMk id="2" creationId="{F8EF7963-9722-7F1C-E55B-1DBCF2BE8B25}"/>
          </ac:spMkLst>
        </pc:spChg>
        <pc:spChg chg="del mod">
          <ac:chgData name="Alluri Satya" userId="a4031cbbc628aaba" providerId="LiveId" clId="{D42EDC24-7D07-4568-8F30-AFBFDA7B9E1C}" dt="2024-10-26T20:26:13.563" v="99" actId="478"/>
          <ac:spMkLst>
            <pc:docMk/>
            <pc:sldMk cId="4228812758" sldId="275"/>
            <ac:spMk id="3" creationId="{FD0FE11C-84B3-95AC-4B26-9BC5694BA790}"/>
          </ac:spMkLst>
        </pc:spChg>
        <pc:spChg chg="add mod">
          <ac:chgData name="Alluri Satya" userId="a4031cbbc628aaba" providerId="LiveId" clId="{D42EDC24-7D07-4568-8F30-AFBFDA7B9E1C}" dt="2024-10-26T20:26:13.563" v="99" actId="478"/>
          <ac:spMkLst>
            <pc:docMk/>
            <pc:sldMk cId="4228812758" sldId="275"/>
            <ac:spMk id="5" creationId="{C70F6D28-0EB2-8670-ED76-1B79B9BFCDAB}"/>
          </ac:spMkLst>
        </pc:spChg>
      </pc:sldChg>
      <pc:sldChg chg="addSp delSp modSp new mod">
        <pc:chgData name="Alluri Satya" userId="a4031cbbc628aaba" providerId="LiveId" clId="{D42EDC24-7D07-4568-8F30-AFBFDA7B9E1C}" dt="2024-10-26T20:28:59.683" v="121" actId="27636"/>
        <pc:sldMkLst>
          <pc:docMk/>
          <pc:sldMk cId="1993639207" sldId="276"/>
        </pc:sldMkLst>
        <pc:spChg chg="del">
          <ac:chgData name="Alluri Satya" userId="a4031cbbc628aaba" providerId="LiveId" clId="{D42EDC24-7D07-4568-8F30-AFBFDA7B9E1C}" dt="2024-10-26T20:26:40.617" v="102" actId="478"/>
          <ac:spMkLst>
            <pc:docMk/>
            <pc:sldMk cId="1993639207" sldId="276"/>
            <ac:spMk id="2" creationId="{B2A3CEFD-4B93-B50E-F5CE-3155E09173EE}"/>
          </ac:spMkLst>
        </pc:spChg>
        <pc:spChg chg="add del mod">
          <ac:chgData name="Alluri Satya" userId="a4031cbbc628aaba" providerId="LiveId" clId="{D42EDC24-7D07-4568-8F30-AFBFDA7B9E1C}" dt="2024-10-26T20:28:59.683" v="121" actId="27636"/>
          <ac:spMkLst>
            <pc:docMk/>
            <pc:sldMk cId="1993639207" sldId="276"/>
            <ac:spMk id="3" creationId="{73C5AE4C-9D82-C93F-EA24-BFDD6AA8C883}"/>
          </ac:spMkLst>
        </pc:spChg>
        <pc:spChg chg="add mod">
          <ac:chgData name="Alluri Satya" userId="a4031cbbc628aaba" providerId="LiveId" clId="{D42EDC24-7D07-4568-8F30-AFBFDA7B9E1C}" dt="2024-10-26T20:28:24.296" v="105"/>
          <ac:spMkLst>
            <pc:docMk/>
            <pc:sldMk cId="1993639207" sldId="276"/>
            <ac:spMk id="4" creationId="{CF0CDD27-E7F3-9333-2D91-15146E3452C1}"/>
          </ac:spMkLst>
        </pc:spChg>
      </pc:sldChg>
      <pc:sldChg chg="addSp delSp modSp new mod">
        <pc:chgData name="Alluri Satya" userId="a4031cbbc628aaba" providerId="LiveId" clId="{D42EDC24-7D07-4568-8F30-AFBFDA7B9E1C}" dt="2024-10-26T20:39:31.221" v="203" actId="3680"/>
        <pc:sldMkLst>
          <pc:docMk/>
          <pc:sldMk cId="398804647" sldId="277"/>
        </pc:sldMkLst>
        <pc:spChg chg="mod">
          <ac:chgData name="Alluri Satya" userId="a4031cbbc628aaba" providerId="LiveId" clId="{D42EDC24-7D07-4568-8F30-AFBFDA7B9E1C}" dt="2024-10-26T20:36:47.736" v="177" actId="207"/>
          <ac:spMkLst>
            <pc:docMk/>
            <pc:sldMk cId="398804647" sldId="277"/>
            <ac:spMk id="2" creationId="{2B1346EF-1E1A-04B9-2242-FB667BB43A77}"/>
          </ac:spMkLst>
        </pc:spChg>
        <pc:spChg chg="mod">
          <ac:chgData name="Alluri Satya" userId="a4031cbbc628aaba" providerId="LiveId" clId="{D42EDC24-7D07-4568-8F30-AFBFDA7B9E1C}" dt="2024-10-26T20:37:37.281" v="192" actId="113"/>
          <ac:spMkLst>
            <pc:docMk/>
            <pc:sldMk cId="398804647" sldId="277"/>
            <ac:spMk id="3" creationId="{C84BCFE8-7D82-B5D9-7396-8A8C61A82992}"/>
          </ac:spMkLst>
        </pc:spChg>
        <pc:graphicFrameChg chg="add del modGraphic">
          <ac:chgData name="Alluri Satya" userId="a4031cbbc628aaba" providerId="LiveId" clId="{D42EDC24-7D07-4568-8F30-AFBFDA7B9E1C}" dt="2024-10-26T20:39:31.221" v="203" actId="3680"/>
          <ac:graphicFrameMkLst>
            <pc:docMk/>
            <pc:sldMk cId="398804647" sldId="277"/>
            <ac:graphicFrameMk id="4" creationId="{AFB45DA1-2356-8923-CF43-8212A290594A}"/>
          </ac:graphicFrameMkLst>
        </pc:graphicFrameChg>
      </pc:sldChg>
      <pc:sldChg chg="addSp delSp modSp new mod">
        <pc:chgData name="Alluri Satya" userId="a4031cbbc628aaba" providerId="LiveId" clId="{D42EDC24-7D07-4568-8F30-AFBFDA7B9E1C}" dt="2024-10-26T20:44:11.400" v="249" actId="20577"/>
        <pc:sldMkLst>
          <pc:docMk/>
          <pc:sldMk cId="2520507165" sldId="278"/>
        </pc:sldMkLst>
        <pc:spChg chg="mod">
          <ac:chgData name="Alluri Satya" userId="a4031cbbc628aaba" providerId="LiveId" clId="{D42EDC24-7D07-4568-8F30-AFBFDA7B9E1C}" dt="2024-10-26T20:42:37.302" v="218" actId="207"/>
          <ac:spMkLst>
            <pc:docMk/>
            <pc:sldMk cId="2520507165" sldId="278"/>
            <ac:spMk id="2" creationId="{9E0E954C-2CA9-7254-DF71-168D7883FE5F}"/>
          </ac:spMkLst>
        </pc:spChg>
        <pc:spChg chg="add del mod">
          <ac:chgData name="Alluri Satya" userId="a4031cbbc628aaba" providerId="LiveId" clId="{D42EDC24-7D07-4568-8F30-AFBFDA7B9E1C}" dt="2024-10-26T20:44:11.400" v="249" actId="20577"/>
          <ac:spMkLst>
            <pc:docMk/>
            <pc:sldMk cId="2520507165" sldId="278"/>
            <ac:spMk id="3" creationId="{00261D28-7A94-8985-6880-E7A5B7781955}"/>
          </ac:spMkLst>
        </pc:spChg>
        <pc:spChg chg="add mod">
          <ac:chgData name="Alluri Satya" userId="a4031cbbc628aaba" providerId="LiveId" clId="{D42EDC24-7D07-4568-8F30-AFBFDA7B9E1C}" dt="2024-10-26T20:43:24.134" v="221"/>
          <ac:spMkLst>
            <pc:docMk/>
            <pc:sldMk cId="2520507165" sldId="278"/>
            <ac:spMk id="4" creationId="{88E9A819-CED3-B002-5AB9-2B6806B3A313}"/>
          </ac:spMkLst>
        </pc:spChg>
      </pc:sldChg>
      <pc:sldChg chg="addSp delSp modSp new mod">
        <pc:chgData name="Alluri Satya" userId="a4031cbbc628aaba" providerId="LiveId" clId="{D42EDC24-7D07-4568-8F30-AFBFDA7B9E1C}" dt="2024-10-26T20:50:45.089" v="324" actId="20577"/>
        <pc:sldMkLst>
          <pc:docMk/>
          <pc:sldMk cId="2806870766" sldId="279"/>
        </pc:sldMkLst>
        <pc:spChg chg="mod">
          <ac:chgData name="Alluri Satya" userId="a4031cbbc628aaba" providerId="LiveId" clId="{D42EDC24-7D07-4568-8F30-AFBFDA7B9E1C}" dt="2024-10-26T20:47:05.026" v="271" actId="14100"/>
          <ac:spMkLst>
            <pc:docMk/>
            <pc:sldMk cId="2806870766" sldId="279"/>
            <ac:spMk id="2" creationId="{9D69F0BF-2AE5-D27A-A8CF-02DB61A365D3}"/>
          </ac:spMkLst>
        </pc:spChg>
        <pc:spChg chg="add del mod">
          <ac:chgData name="Alluri Satya" userId="a4031cbbc628aaba" providerId="LiveId" clId="{D42EDC24-7D07-4568-8F30-AFBFDA7B9E1C}" dt="2024-10-26T20:50:45.089" v="324" actId="20577"/>
          <ac:spMkLst>
            <pc:docMk/>
            <pc:sldMk cId="2806870766" sldId="279"/>
            <ac:spMk id="3" creationId="{2E7C5FC1-31EF-9906-E1D9-FA9CC56F934D}"/>
          </ac:spMkLst>
        </pc:spChg>
        <pc:spChg chg="add mod">
          <ac:chgData name="Alluri Satya" userId="a4031cbbc628aaba" providerId="LiveId" clId="{D42EDC24-7D07-4568-8F30-AFBFDA7B9E1C}" dt="2024-10-26T20:49:07.560" v="274"/>
          <ac:spMkLst>
            <pc:docMk/>
            <pc:sldMk cId="2806870766" sldId="279"/>
            <ac:spMk id="4" creationId="{A6801896-8FD9-A59F-94C2-00061B973591}"/>
          </ac:spMkLst>
        </pc:spChg>
      </pc:sldChg>
      <pc:sldChg chg="new del">
        <pc:chgData name="Alluri Satya" userId="a4031cbbc628aaba" providerId="LiveId" clId="{D42EDC24-7D07-4568-8F30-AFBFDA7B9E1C}" dt="2024-10-26T20:44:56.575" v="251" actId="680"/>
        <pc:sldMkLst>
          <pc:docMk/>
          <pc:sldMk cId="4239665726" sldId="279"/>
        </pc:sldMkLst>
      </pc:sldChg>
      <pc:sldChg chg="addSp delSp modSp new mod">
        <pc:chgData name="Alluri Satya" userId="a4031cbbc628aaba" providerId="LiveId" clId="{D42EDC24-7D07-4568-8F30-AFBFDA7B9E1C}" dt="2024-10-26T20:54:06.043" v="347" actId="1076"/>
        <pc:sldMkLst>
          <pc:docMk/>
          <pc:sldMk cId="2829520089" sldId="280"/>
        </pc:sldMkLst>
        <pc:spChg chg="mod">
          <ac:chgData name="Alluri Satya" userId="a4031cbbc628aaba" providerId="LiveId" clId="{D42EDC24-7D07-4568-8F30-AFBFDA7B9E1C}" dt="2024-10-26T20:53:55.648" v="346" actId="113"/>
          <ac:spMkLst>
            <pc:docMk/>
            <pc:sldMk cId="2829520089" sldId="280"/>
            <ac:spMk id="2" creationId="{1128693B-982D-E7D7-7B47-84B9153C2746}"/>
          </ac:spMkLst>
        </pc:spChg>
        <pc:spChg chg="add del mod">
          <ac:chgData name="Alluri Satya" userId="a4031cbbc628aaba" providerId="LiveId" clId="{D42EDC24-7D07-4568-8F30-AFBFDA7B9E1C}" dt="2024-10-26T20:54:06.043" v="347" actId="1076"/>
          <ac:spMkLst>
            <pc:docMk/>
            <pc:sldMk cId="2829520089" sldId="280"/>
            <ac:spMk id="3" creationId="{3A8C9675-CE34-1E70-075F-574081EF11FF}"/>
          </ac:spMkLst>
        </pc:spChg>
        <pc:spChg chg="add mod">
          <ac:chgData name="Alluri Satya" userId="a4031cbbc628aaba" providerId="LiveId" clId="{D42EDC24-7D07-4568-8F30-AFBFDA7B9E1C}" dt="2024-10-26T20:53:30.554" v="339"/>
          <ac:spMkLst>
            <pc:docMk/>
            <pc:sldMk cId="2829520089" sldId="280"/>
            <ac:spMk id="4" creationId="{84BF1417-AF48-7931-2FF7-EA379D14DA1D}"/>
          </ac:spMkLst>
        </pc:spChg>
      </pc:sldChg>
      <pc:sldChg chg="addSp delSp modSp new mod">
        <pc:chgData name="Alluri Satya" userId="a4031cbbc628aaba" providerId="LiveId" clId="{D42EDC24-7D07-4568-8F30-AFBFDA7B9E1C}" dt="2024-10-26T20:58:38.181" v="399" actId="1076"/>
        <pc:sldMkLst>
          <pc:docMk/>
          <pc:sldMk cId="1789675061" sldId="281"/>
        </pc:sldMkLst>
        <pc:spChg chg="mod">
          <ac:chgData name="Alluri Satya" userId="a4031cbbc628aaba" providerId="LiveId" clId="{D42EDC24-7D07-4568-8F30-AFBFDA7B9E1C}" dt="2024-10-26T20:58:38.181" v="399" actId="1076"/>
          <ac:spMkLst>
            <pc:docMk/>
            <pc:sldMk cId="1789675061" sldId="281"/>
            <ac:spMk id="2" creationId="{DE5BA47A-2FF7-FDE7-479B-F88C9F67D332}"/>
          </ac:spMkLst>
        </pc:spChg>
        <pc:spChg chg="add del mod">
          <ac:chgData name="Alluri Satya" userId="a4031cbbc628aaba" providerId="LiveId" clId="{D42EDC24-7D07-4568-8F30-AFBFDA7B9E1C}" dt="2024-10-26T20:58:29.147" v="398" actId="20577"/>
          <ac:spMkLst>
            <pc:docMk/>
            <pc:sldMk cId="1789675061" sldId="281"/>
            <ac:spMk id="3" creationId="{F9B0A677-4F00-C197-0672-AB0B48AD8E3A}"/>
          </ac:spMkLst>
        </pc:spChg>
        <pc:spChg chg="add mod">
          <ac:chgData name="Alluri Satya" userId="a4031cbbc628aaba" providerId="LiveId" clId="{D42EDC24-7D07-4568-8F30-AFBFDA7B9E1C}" dt="2024-10-26T20:56:05.158" v="364"/>
          <ac:spMkLst>
            <pc:docMk/>
            <pc:sldMk cId="1789675061" sldId="281"/>
            <ac:spMk id="4" creationId="{6701B395-0C79-B901-DEA8-D96217AD9110}"/>
          </ac:spMkLst>
        </pc:spChg>
      </pc:sldChg>
      <pc:sldChg chg="modSp new mod">
        <pc:chgData name="Alluri Satya" userId="a4031cbbc628aaba" providerId="LiveId" clId="{D42EDC24-7D07-4568-8F30-AFBFDA7B9E1C}" dt="2024-10-26T20:59:12.257" v="413" actId="1076"/>
        <pc:sldMkLst>
          <pc:docMk/>
          <pc:sldMk cId="3856809736" sldId="282"/>
        </pc:sldMkLst>
        <pc:spChg chg="mod">
          <ac:chgData name="Alluri Satya" userId="a4031cbbc628aaba" providerId="LiveId" clId="{D42EDC24-7D07-4568-8F30-AFBFDA7B9E1C}" dt="2024-10-26T20:59:12.257" v="413" actId="1076"/>
          <ac:spMkLst>
            <pc:docMk/>
            <pc:sldMk cId="3856809736" sldId="282"/>
            <ac:spMk id="2" creationId="{A9038C6B-7554-D22E-4E54-2542349FCC2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15086-06BC-4F78-B508-4E1F94CCB86B}" type="datetimeFigureOut">
              <a:rPr lang="en-US" smtClean="0"/>
              <a:t>10/26/24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4AFE6-52F8-436F-9DAC-607E2BE5A99D}" type="slidenum">
              <a:rPr lang="en-US" smtClean="0"/>
              <a:t>‹#›</a:t>
            </a:fld>
            <a:endParaRPr lang="en-US" dirty="0"/>
          </a:p>
        </p:txBody>
      </p:sp>
    </p:spTree>
    <p:extLst>
      <p:ext uri="{BB962C8B-B14F-4D97-AF65-F5344CB8AC3E}">
        <p14:creationId xmlns:p14="http://schemas.microsoft.com/office/powerpoint/2010/main" val="3635631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1DA85BB-8327-437A-900F-6A3DB7A5ABC9}"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6FA0BC-E7BB-4D55-8710-E8474A66771E}"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58A1C5-682A-4617-9A91-5759A79A935B}"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EFD0D0-99D2-4A10-AC62-6E2E6CF7A9EE}" type="datetime1">
              <a:rPr lang="en-US" smtClean="0"/>
              <a:t>10/26/24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8F7DEDF-EB2B-4F7F-B2DF-97C28C8FCBC9}" type="datetime1">
              <a:rPr lang="en-US" smtClean="0"/>
              <a:t>10/26/24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780351-56D7-412F-9F2E-17819DF3B01D}" type="datetime1">
              <a:rPr lang="en-US" smtClean="0"/>
              <a:t>10/26/24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8F068B-C601-4124-944A-AED7D3FD7517}" type="datetime1">
              <a:rPr lang="en-US" smtClean="0"/>
              <a:t>10/26/24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6F7A73-7818-460B-8F62-87CD8A1DAD1A}" type="datetime1">
              <a:rPr lang="en-US" smtClean="0"/>
              <a:t>10/26/24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CF8665-A302-4073-9097-DCE6BA8A5D14}" type="datetime1">
              <a:rPr lang="en-US" smtClean="0"/>
              <a:t>10/26/24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6973878A-9A6C-446F-AE2D-FA0E8037C59B}" type="datetime1">
              <a:rPr lang="en-US" smtClean="0"/>
              <a:t>10/26/24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CC5687-D9F1-45E2-A621-A964456C9C51}"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D05D98-6779-42E9-AA36-C6D6C2CA339B}"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414117-4E55-454A-B008-5B316A3C4A1E}"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685336-EDD6-4B11-BDCB-D9716D9D0CAD}"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0B30B-3EA6-4689-8E7C-D798375DFD60}"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5E6C6-E680-4C09-9A82-6D6D4A458B45}"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F7BBFA-E374-465F-B18D-F6CE71921593}" type="datetime1">
              <a:rPr lang="en-US" smtClean="0"/>
              <a:t>10/26/24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8D89FA6-8D64-42DE-8A02-4A6662349BFD}" type="datetime1">
              <a:rPr lang="en-US" smtClean="0"/>
              <a:t>10/26/24</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16/j.ins.2019.01.046" TargetMode="External"/><Relationship Id="rId2" Type="http://schemas.openxmlformats.org/officeDocument/2006/relationships/hyperlink" Target="https://doi.org/10.1016/j.jisa.2021.102808" TargetMode="External"/><Relationship Id="rId1" Type="http://schemas.openxmlformats.org/officeDocument/2006/relationships/slideLayout" Target="../slideLayouts/slideLayout11.xml"/><Relationship Id="rId4" Type="http://schemas.openxmlformats.org/officeDocument/2006/relationships/hyperlink" Target="https://doi.org/10.1007/s00521-016-2275-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3CD85834-55D9-470E-9834-623384F2476A}"/>
              </a:ext>
              <a:ext uri="{C183D7F6-B498-43B3-948B-1728B52AA6E4}">
                <adec:decorative xmlns:adec="http://schemas.microsoft.com/office/drawing/2017/decorative" val="1"/>
              </a:ext>
            </a:extLst>
          </p:cNvPr>
          <p:cNvPicPr>
            <a:picLocks noChangeAspect="1"/>
          </p:cNvPicPr>
          <p:nvPr/>
        </p:nvPicPr>
        <p:blipFill rotWithShape="1">
          <a:blip r:embed="rId2">
            <a:alphaModFix amt="40000"/>
          </a:blip>
          <a:srcRect t="9418" b="6313"/>
          <a:stretch/>
        </p:blipFill>
        <p:spPr>
          <a:xfrm>
            <a:off x="3175" y="10"/>
            <a:ext cx="12192000" cy="6857990"/>
          </a:xfrm>
          <a:prstGeom prst="rect">
            <a:avLst/>
          </a:prstGeom>
        </p:spPr>
      </p:pic>
      <p:sp>
        <p:nvSpPr>
          <p:cNvPr id="2" name="Title 1">
            <a:extLst>
              <a:ext uri="{FF2B5EF4-FFF2-40B4-BE49-F238E27FC236}">
                <a16:creationId xmlns:a16="http://schemas.microsoft.com/office/drawing/2014/main" id="{DD812CC5-3F64-4837-AE94-66C400A325B0}"/>
              </a:ext>
            </a:extLst>
          </p:cNvPr>
          <p:cNvSpPr>
            <a:spLocks noGrp="1"/>
          </p:cNvSpPr>
          <p:nvPr>
            <p:ph type="ctrTitle"/>
          </p:nvPr>
        </p:nvSpPr>
        <p:spPr>
          <a:xfrm>
            <a:off x="256032" y="237745"/>
            <a:ext cx="11576304" cy="3419856"/>
          </a:xfrm>
        </p:spPr>
        <p:txBody>
          <a:bodyPr>
            <a:normAutofit/>
          </a:bodyPr>
          <a:lstStyle/>
          <a:p>
            <a:r>
              <a:rPr lang="en-US" sz="4800" dirty="0">
                <a:solidFill>
                  <a:schemeClr val="bg1"/>
                </a:solidFill>
                <a:latin typeface="+mn-lt"/>
                <a:cs typeface="Times New Roman" panose="02020603050405020304" pitchFamily="18" charset="0"/>
              </a:rPr>
              <a:t>ALY 6140: Capstone Project</a:t>
            </a:r>
            <a:br>
              <a:rPr lang="en-US" sz="4800" dirty="0">
                <a:latin typeface="+mn-lt"/>
                <a:cs typeface="Times New Roman" panose="02020603050405020304" pitchFamily="18" charset="0"/>
              </a:rPr>
            </a:br>
            <a:br>
              <a:rPr lang="en-US" sz="4800" dirty="0">
                <a:latin typeface="+mn-lt"/>
                <a:cs typeface="Times New Roman" panose="02020603050405020304" pitchFamily="18" charset="0"/>
              </a:rPr>
            </a:br>
            <a:r>
              <a:rPr lang="en-US" sz="4000" dirty="0">
                <a:latin typeface="+mn-lt"/>
              </a:rPr>
              <a:t>Phishing URL Detection Using </a:t>
            </a:r>
            <a:br>
              <a:rPr lang="en-US" sz="4000" dirty="0">
                <a:latin typeface="+mn-lt"/>
              </a:rPr>
            </a:br>
            <a:r>
              <a:rPr lang="en-US" sz="4000" dirty="0">
                <a:latin typeface="+mn-lt"/>
              </a:rPr>
              <a:t>Machine Learning</a:t>
            </a:r>
          </a:p>
        </p:txBody>
      </p:sp>
      <p:sp>
        <p:nvSpPr>
          <p:cNvPr id="3" name="Subtitle 2">
            <a:extLst>
              <a:ext uri="{FF2B5EF4-FFF2-40B4-BE49-F238E27FC236}">
                <a16:creationId xmlns:a16="http://schemas.microsoft.com/office/drawing/2014/main" id="{150012D5-B732-49FA-8D2C-A5C52B3641FB}"/>
              </a:ext>
            </a:extLst>
          </p:cNvPr>
          <p:cNvSpPr>
            <a:spLocks noGrp="1"/>
          </p:cNvSpPr>
          <p:nvPr>
            <p:ph type="subTitle" idx="1"/>
          </p:nvPr>
        </p:nvSpPr>
        <p:spPr>
          <a:xfrm>
            <a:off x="5210492" y="5007863"/>
            <a:ext cx="6765100" cy="1612392"/>
          </a:xfrm>
        </p:spPr>
        <p:txBody>
          <a:bodyPr>
            <a:normAutofit lnSpcReduction="10000"/>
          </a:bodyPr>
          <a:lstStyle/>
          <a:p>
            <a:r>
              <a:rPr lang="en-US" dirty="0">
                <a:solidFill>
                  <a:schemeClr val="tx1"/>
                </a:solidFill>
              </a:rPr>
              <a:t>Team Members: Dhruv Patel, Veera Venkata Koushik Kumar </a:t>
            </a:r>
            <a:r>
              <a:rPr lang="en-US" dirty="0" err="1">
                <a:solidFill>
                  <a:schemeClr val="tx1"/>
                </a:solidFill>
              </a:rPr>
              <a:t>Sirigiri</a:t>
            </a:r>
            <a:r>
              <a:rPr lang="en-US" dirty="0">
                <a:solidFill>
                  <a:schemeClr val="tx1"/>
                </a:solidFill>
              </a:rPr>
              <a:t>, Sai Varma Alluri</a:t>
            </a:r>
          </a:p>
          <a:p>
            <a:endParaRPr lang="en-US" dirty="0">
              <a:solidFill>
                <a:schemeClr val="tx1"/>
              </a:solidFill>
            </a:endParaRPr>
          </a:p>
          <a:p>
            <a:r>
              <a:rPr lang="en-US" dirty="0">
                <a:solidFill>
                  <a:schemeClr val="tx1"/>
                </a:solidFill>
              </a:rPr>
              <a:t>Instructor: Prof. </a:t>
            </a:r>
            <a:r>
              <a:rPr lang="en-US" dirty="0" err="1">
                <a:solidFill>
                  <a:schemeClr val="tx1"/>
                </a:solidFill>
              </a:rPr>
              <a:t>Shaiyan</a:t>
            </a:r>
            <a:r>
              <a:rPr lang="en-US" dirty="0">
                <a:solidFill>
                  <a:schemeClr val="tx1"/>
                </a:solidFill>
              </a:rPr>
              <a:t> </a:t>
            </a:r>
            <a:r>
              <a:rPr lang="en-US" dirty="0" err="1">
                <a:solidFill>
                  <a:schemeClr val="tx1"/>
                </a:solidFill>
              </a:rPr>
              <a:t>Keshvari</a:t>
            </a:r>
            <a:endParaRPr lang="en-US" dirty="0">
              <a:solidFill>
                <a:schemeClr val="tx1"/>
              </a:solidFill>
            </a:endParaRPr>
          </a:p>
        </p:txBody>
      </p:sp>
    </p:spTree>
    <p:extLst>
      <p:ext uri="{BB962C8B-B14F-4D97-AF65-F5344CB8AC3E}">
        <p14:creationId xmlns:p14="http://schemas.microsoft.com/office/powerpoint/2010/main" val="38573100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C917-D382-8A44-53FD-FFC54751BF3C}"/>
              </a:ext>
            </a:extLst>
          </p:cNvPr>
          <p:cNvSpPr>
            <a:spLocks noGrp="1"/>
          </p:cNvSpPr>
          <p:nvPr>
            <p:ph type="title"/>
          </p:nvPr>
        </p:nvSpPr>
        <p:spPr>
          <a:xfrm>
            <a:off x="492187" y="246888"/>
            <a:ext cx="8534401" cy="1042080"/>
          </a:xfrm>
        </p:spPr>
        <p:txBody>
          <a:bodyPr/>
          <a:lstStyle/>
          <a:p>
            <a:r>
              <a:rPr lang="en-IN" dirty="0">
                <a:solidFill>
                  <a:schemeClr val="bg1"/>
                </a:solidFill>
              </a:rPr>
              <a:t>CONTENTS</a:t>
            </a:r>
          </a:p>
        </p:txBody>
      </p:sp>
      <p:sp>
        <p:nvSpPr>
          <p:cNvPr id="3" name="Text Placeholder 2">
            <a:extLst>
              <a:ext uri="{FF2B5EF4-FFF2-40B4-BE49-F238E27FC236}">
                <a16:creationId xmlns:a16="http://schemas.microsoft.com/office/drawing/2014/main" id="{3223B6CF-C242-C4DF-7247-1D1CC2F596C7}"/>
              </a:ext>
            </a:extLst>
          </p:cNvPr>
          <p:cNvSpPr>
            <a:spLocks noGrp="1"/>
          </p:cNvSpPr>
          <p:nvPr>
            <p:ph type="body" idx="1"/>
          </p:nvPr>
        </p:nvSpPr>
        <p:spPr>
          <a:xfrm>
            <a:off x="684213" y="1600200"/>
            <a:ext cx="8534400" cy="4394200"/>
          </a:xfrm>
        </p:spPr>
        <p:txBody>
          <a:bodyPr>
            <a:normAutofit/>
          </a:bodyPr>
          <a:lstStyle/>
          <a:p>
            <a:pPr marL="457200" indent="-457200">
              <a:buFont typeface="+mj-lt"/>
              <a:buAutoNum type="arabicPeriod"/>
            </a:pPr>
            <a:r>
              <a:rPr lang="en-IN" sz="2000" dirty="0">
                <a:solidFill>
                  <a:schemeClr val="tx1"/>
                </a:solidFill>
              </a:rPr>
              <a:t>Introduction and Project Overview</a:t>
            </a:r>
          </a:p>
          <a:p>
            <a:pPr marL="457200" indent="-457200">
              <a:buFont typeface="+mj-lt"/>
              <a:buAutoNum type="arabicPeriod"/>
            </a:pPr>
            <a:r>
              <a:rPr lang="en-IN" sz="2000" dirty="0">
                <a:solidFill>
                  <a:schemeClr val="tx1"/>
                </a:solidFill>
              </a:rPr>
              <a:t>Descriptive Analysis</a:t>
            </a:r>
          </a:p>
          <a:p>
            <a:pPr marL="457200" indent="-457200">
              <a:buFont typeface="+mj-lt"/>
              <a:buAutoNum type="arabicPeriod"/>
            </a:pPr>
            <a:r>
              <a:rPr lang="en-IN" sz="2000" dirty="0">
                <a:solidFill>
                  <a:schemeClr val="tx1"/>
                </a:solidFill>
              </a:rPr>
              <a:t>Methodology</a:t>
            </a:r>
          </a:p>
          <a:p>
            <a:pPr marL="457200" indent="-457200">
              <a:buFont typeface="+mj-lt"/>
              <a:buAutoNum type="arabicPeriod"/>
            </a:pPr>
            <a:r>
              <a:rPr lang="en-IN" sz="2000" dirty="0">
                <a:solidFill>
                  <a:schemeClr val="tx1"/>
                </a:solidFill>
              </a:rPr>
              <a:t>Exploratory Data Analysis (EDA)</a:t>
            </a:r>
          </a:p>
          <a:p>
            <a:pPr marL="457200" indent="-457200">
              <a:buFont typeface="+mj-lt"/>
              <a:buAutoNum type="arabicPeriod"/>
            </a:pPr>
            <a:r>
              <a:rPr lang="en-IN" sz="2000" dirty="0">
                <a:solidFill>
                  <a:schemeClr val="tx1"/>
                </a:solidFill>
              </a:rPr>
              <a:t>Model Performances</a:t>
            </a:r>
          </a:p>
          <a:p>
            <a:pPr marL="457200" indent="-457200">
              <a:buFont typeface="+mj-lt"/>
              <a:buAutoNum type="arabicPeriod"/>
            </a:pPr>
            <a:r>
              <a:rPr lang="en-IN" sz="2000" dirty="0">
                <a:solidFill>
                  <a:schemeClr val="tx1"/>
                </a:solidFill>
              </a:rPr>
              <a:t>Key Findings</a:t>
            </a:r>
          </a:p>
          <a:p>
            <a:pPr marL="457200" indent="-457200">
              <a:buFont typeface="+mj-lt"/>
              <a:buAutoNum type="arabicPeriod"/>
            </a:pPr>
            <a:r>
              <a:rPr lang="en-IN" sz="2000" dirty="0">
                <a:solidFill>
                  <a:schemeClr val="tx1"/>
                </a:solidFill>
              </a:rPr>
              <a:t>Recommendations</a:t>
            </a:r>
          </a:p>
          <a:p>
            <a:pPr marL="457200" indent="-457200">
              <a:buFont typeface="+mj-lt"/>
              <a:buAutoNum type="arabicPeriod"/>
            </a:pPr>
            <a:r>
              <a:rPr lang="en-IN" sz="2000" dirty="0">
                <a:solidFill>
                  <a:schemeClr val="tx1"/>
                </a:solidFill>
              </a:rPr>
              <a:t>Conclusion</a:t>
            </a:r>
          </a:p>
          <a:p>
            <a:pPr marL="457200" indent="-457200">
              <a:buFont typeface="+mj-lt"/>
              <a:buAutoNum type="arabicPeriod"/>
            </a:pPr>
            <a:r>
              <a:rPr lang="en-IN" sz="2000" dirty="0">
                <a:solidFill>
                  <a:schemeClr val="tx1"/>
                </a:solidFill>
              </a:rPr>
              <a:t>References</a:t>
            </a:r>
          </a:p>
        </p:txBody>
      </p:sp>
    </p:spTree>
    <p:extLst>
      <p:ext uri="{BB962C8B-B14F-4D97-AF65-F5344CB8AC3E}">
        <p14:creationId xmlns:p14="http://schemas.microsoft.com/office/powerpoint/2010/main" val="1517125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42D19-6162-A5F8-5CEF-CDD0F4A7D5AB}"/>
              </a:ext>
            </a:extLst>
          </p:cNvPr>
          <p:cNvSpPr>
            <a:spLocks noGrp="1"/>
          </p:cNvSpPr>
          <p:nvPr>
            <p:ph type="ctrTitle"/>
          </p:nvPr>
        </p:nvSpPr>
        <p:spPr>
          <a:xfrm>
            <a:off x="940243" y="649225"/>
            <a:ext cx="10173233" cy="1472184"/>
          </a:xfrm>
        </p:spPr>
        <p:txBody>
          <a:bodyPr>
            <a:noAutofit/>
          </a:bodyPr>
          <a:lstStyle/>
          <a:p>
            <a:r>
              <a:rPr lang="en-IN" sz="3600" dirty="0">
                <a:solidFill>
                  <a:schemeClr val="bg1"/>
                </a:solidFill>
              </a:rPr>
              <a:t>Introduction and Project Overview</a:t>
            </a:r>
            <a:br>
              <a:rPr lang="en-IN" sz="3600" dirty="0"/>
            </a:br>
            <a:endParaRPr lang="en-IN" sz="3600" dirty="0"/>
          </a:p>
        </p:txBody>
      </p:sp>
      <p:sp>
        <p:nvSpPr>
          <p:cNvPr id="3" name="Subtitle 2">
            <a:extLst>
              <a:ext uri="{FF2B5EF4-FFF2-40B4-BE49-F238E27FC236}">
                <a16:creationId xmlns:a16="http://schemas.microsoft.com/office/drawing/2014/main" id="{E85F8F7C-6F58-EF04-2917-04C44B3189B6}"/>
              </a:ext>
            </a:extLst>
          </p:cNvPr>
          <p:cNvSpPr>
            <a:spLocks noGrp="1"/>
          </p:cNvSpPr>
          <p:nvPr>
            <p:ph type="subTitle" idx="1"/>
          </p:nvPr>
        </p:nvSpPr>
        <p:spPr>
          <a:xfrm>
            <a:off x="711644" y="1901953"/>
            <a:ext cx="7316788" cy="3880104"/>
          </a:xfrm>
        </p:spPr>
        <p:txBody>
          <a:bodyPr>
            <a:normAutofit/>
          </a:bodyPr>
          <a:lstStyle/>
          <a:p>
            <a:pPr marL="342900" indent="-342900">
              <a:buFont typeface="Arial" panose="020B0604020202020204" pitchFamily="34" charset="0"/>
              <a:buChar char="•"/>
            </a:pPr>
            <a:r>
              <a:rPr lang="en-US" sz="2000" b="1" dirty="0">
                <a:solidFill>
                  <a:schemeClr val="tx1"/>
                </a:solidFill>
              </a:rPr>
              <a:t>Objective: </a:t>
            </a:r>
            <a:r>
              <a:rPr lang="en-US" sz="2000" dirty="0">
                <a:solidFill>
                  <a:schemeClr val="tx1"/>
                </a:solidFill>
              </a:rPr>
              <a:t>Use machine learning to identify phishing URLs in order to improve cybersecurity and stop data breaches.</a:t>
            </a:r>
          </a:p>
          <a:p>
            <a:pPr marL="342900" indent="-342900">
              <a:buFont typeface="Arial" panose="020B0604020202020204" pitchFamily="34" charset="0"/>
              <a:buChar char="•"/>
            </a:pPr>
            <a:r>
              <a:rPr lang="en-US" sz="2000" b="1" dirty="0">
                <a:solidFill>
                  <a:schemeClr val="tx1"/>
                </a:solidFill>
              </a:rPr>
              <a:t>The Key Issue: </a:t>
            </a:r>
            <a:r>
              <a:rPr lang="en-US" sz="2000" dirty="0">
                <a:solidFill>
                  <a:schemeClr val="tx1"/>
                </a:solidFill>
              </a:rPr>
              <a:t>"How accurately can we detect phishing URLs using machine learning models?"</a:t>
            </a:r>
          </a:p>
          <a:p>
            <a:pPr marL="342900" indent="-342900">
              <a:buFont typeface="Arial" panose="020B0604020202020204" pitchFamily="34" charset="0"/>
              <a:buChar char="•"/>
            </a:pPr>
            <a:r>
              <a:rPr lang="en-US" sz="2000" b="1" dirty="0">
                <a:solidFill>
                  <a:schemeClr val="tx1"/>
                </a:solidFill>
              </a:rPr>
              <a:t>Approach: </a:t>
            </a:r>
            <a:r>
              <a:rPr lang="en-US" sz="2000" dirty="0">
                <a:solidFill>
                  <a:schemeClr val="tx1"/>
                </a:solidFill>
              </a:rPr>
              <a:t>applied feature extraction, preprocessed the data, and assessed several models, such as SVM and Random Forest.</a:t>
            </a:r>
          </a:p>
          <a:p>
            <a:pPr marL="342900" indent="-342900">
              <a:buFont typeface="Arial" panose="020B0604020202020204" pitchFamily="34" charset="0"/>
              <a:buChar char="•"/>
            </a:pPr>
            <a:r>
              <a:rPr lang="en-US" sz="2000" b="1" dirty="0">
                <a:solidFill>
                  <a:schemeClr val="tx1"/>
                </a:solidFill>
              </a:rPr>
              <a:t>Importance: </a:t>
            </a:r>
            <a:r>
              <a:rPr lang="en-US" sz="2000" dirty="0">
                <a:solidFill>
                  <a:schemeClr val="tx1"/>
                </a:solidFill>
              </a:rPr>
              <a:t>Protecting consumers from identity theft, financial loss, and cyber risks is made possible by effective phishing detection.</a:t>
            </a:r>
            <a:endParaRPr lang="en-IN" sz="2000" dirty="0">
              <a:solidFill>
                <a:schemeClr val="tx1"/>
              </a:solidFill>
            </a:endParaRPr>
          </a:p>
        </p:txBody>
      </p:sp>
    </p:spTree>
    <p:extLst>
      <p:ext uri="{BB962C8B-B14F-4D97-AF65-F5344CB8AC3E}">
        <p14:creationId xmlns:p14="http://schemas.microsoft.com/office/powerpoint/2010/main" val="2032248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FB60D-B73E-7731-DC91-8B0DCBF77E89}"/>
              </a:ext>
            </a:extLst>
          </p:cNvPr>
          <p:cNvSpPr>
            <a:spLocks noGrp="1"/>
          </p:cNvSpPr>
          <p:nvPr>
            <p:ph type="title"/>
          </p:nvPr>
        </p:nvSpPr>
        <p:spPr>
          <a:xfrm>
            <a:off x="528765" y="-612648"/>
            <a:ext cx="10058400" cy="2743200"/>
          </a:xfrm>
        </p:spPr>
        <p:txBody>
          <a:bodyPr/>
          <a:lstStyle/>
          <a:p>
            <a:r>
              <a:rPr lang="en-IN" dirty="0">
                <a:solidFill>
                  <a:schemeClr val="bg1"/>
                </a:solidFill>
              </a:rPr>
              <a:t>Descriptive Analysis</a:t>
            </a:r>
          </a:p>
        </p:txBody>
      </p:sp>
      <p:sp>
        <p:nvSpPr>
          <p:cNvPr id="3" name="Text Placeholder 2">
            <a:extLst>
              <a:ext uri="{FF2B5EF4-FFF2-40B4-BE49-F238E27FC236}">
                <a16:creationId xmlns:a16="http://schemas.microsoft.com/office/drawing/2014/main" id="{F89E858D-4B7F-7664-8B69-F4EE2859C476}"/>
              </a:ext>
            </a:extLst>
          </p:cNvPr>
          <p:cNvSpPr>
            <a:spLocks noGrp="1"/>
          </p:cNvSpPr>
          <p:nvPr>
            <p:ph type="body" idx="1"/>
          </p:nvPr>
        </p:nvSpPr>
        <p:spPr>
          <a:xfrm>
            <a:off x="665924" y="1199895"/>
            <a:ext cx="10391282" cy="4877347"/>
          </a:xfrm>
        </p:spPr>
        <p:txBody>
          <a:bodyPr/>
          <a:lstStyle/>
          <a:p>
            <a:r>
              <a:rPr lang="en-IN" b="1" dirty="0">
                <a:solidFill>
                  <a:schemeClr val="tx1"/>
                </a:solidFill>
              </a:rPr>
              <a:t>Dataset Overview:</a:t>
            </a:r>
          </a:p>
          <a:p>
            <a:pPr marL="342900" indent="-342900">
              <a:buFont typeface="Arial" panose="020B0604020202020204" pitchFamily="34" charset="0"/>
              <a:buChar char="•"/>
            </a:pPr>
            <a:r>
              <a:rPr lang="en-IN" dirty="0">
                <a:solidFill>
                  <a:schemeClr val="tx1"/>
                </a:solidFill>
              </a:rPr>
              <a:t>Total Samples: 662,591 URLs</a:t>
            </a:r>
          </a:p>
          <a:p>
            <a:pPr marL="342900" indent="-342900">
              <a:buFont typeface="Arial" panose="020B0604020202020204" pitchFamily="34" charset="0"/>
              <a:buChar char="•"/>
            </a:pPr>
            <a:r>
              <a:rPr lang="en-IN" dirty="0">
                <a:solidFill>
                  <a:schemeClr val="tx1"/>
                </a:solidFill>
              </a:rPr>
              <a:t>Feature Examples: </a:t>
            </a:r>
            <a:r>
              <a:rPr lang="en-IN" dirty="0" err="1">
                <a:solidFill>
                  <a:schemeClr val="tx1"/>
                </a:solidFill>
              </a:rPr>
              <a:t>NumDots</a:t>
            </a:r>
            <a:r>
              <a:rPr lang="en-IN" dirty="0">
                <a:solidFill>
                  <a:schemeClr val="tx1"/>
                </a:solidFill>
              </a:rPr>
              <a:t>, </a:t>
            </a:r>
            <a:r>
              <a:rPr lang="en-IN" dirty="0" err="1">
                <a:solidFill>
                  <a:schemeClr val="tx1"/>
                </a:solidFill>
              </a:rPr>
              <a:t>UrlLength</a:t>
            </a:r>
            <a:r>
              <a:rPr lang="en-IN" dirty="0">
                <a:solidFill>
                  <a:schemeClr val="tx1"/>
                </a:solidFill>
              </a:rPr>
              <a:t>, </a:t>
            </a:r>
            <a:r>
              <a:rPr lang="en-IN" dirty="0" err="1">
                <a:solidFill>
                  <a:schemeClr val="tx1"/>
                </a:solidFill>
              </a:rPr>
              <a:t>AtSymbol</a:t>
            </a:r>
            <a:r>
              <a:rPr lang="en-IN" dirty="0">
                <a:solidFill>
                  <a:schemeClr val="tx1"/>
                </a:solidFill>
              </a:rPr>
              <a:t>, </a:t>
            </a:r>
            <a:r>
              <a:rPr lang="en-IN" dirty="0" err="1">
                <a:solidFill>
                  <a:schemeClr val="tx1"/>
                </a:solidFill>
              </a:rPr>
              <a:t>PathLevel</a:t>
            </a:r>
            <a:endParaRPr lang="en-IN" dirty="0">
              <a:solidFill>
                <a:schemeClr val="tx1"/>
              </a:solidFill>
            </a:endParaRPr>
          </a:p>
          <a:p>
            <a:pPr marL="342900" indent="-342900">
              <a:buFont typeface="Arial" panose="020B0604020202020204" pitchFamily="34" charset="0"/>
              <a:buChar char="•"/>
            </a:pPr>
            <a:r>
              <a:rPr lang="en-IN" dirty="0">
                <a:solidFill>
                  <a:schemeClr val="tx1"/>
                </a:solidFill>
              </a:rPr>
              <a:t>Class Distribution: Approximately 80% legitimate URLs, 20% phishing URLs</a:t>
            </a:r>
          </a:p>
          <a:p>
            <a:r>
              <a:rPr lang="en-IN" b="1" dirty="0">
                <a:solidFill>
                  <a:schemeClr val="tx1"/>
                </a:solidFill>
              </a:rPr>
              <a:t>Key Insights:</a:t>
            </a:r>
          </a:p>
          <a:p>
            <a:pPr marL="342900" indent="-342900">
              <a:buFont typeface="Arial" panose="020B0604020202020204" pitchFamily="34" charset="0"/>
              <a:buChar char="•"/>
            </a:pPr>
            <a:r>
              <a:rPr lang="en-IN" dirty="0">
                <a:solidFill>
                  <a:schemeClr val="tx1"/>
                </a:solidFill>
              </a:rPr>
              <a:t>Phishing URLs often exhibit unusual characteristics, like long lengths and use of special characters.</a:t>
            </a:r>
          </a:p>
          <a:p>
            <a:pPr marL="342900" indent="-342900">
              <a:buFont typeface="Arial" panose="020B0604020202020204" pitchFamily="34" charset="0"/>
              <a:buChar char="•"/>
            </a:pPr>
            <a:r>
              <a:rPr lang="en-IN" dirty="0">
                <a:solidFill>
                  <a:schemeClr val="tx1"/>
                </a:solidFill>
              </a:rPr>
              <a:t>The dataset is imbalanced, reflecting real-world scenarios where phishing attempts are fewer but impactful.</a:t>
            </a:r>
          </a:p>
        </p:txBody>
      </p:sp>
    </p:spTree>
    <p:extLst>
      <p:ext uri="{BB962C8B-B14F-4D97-AF65-F5344CB8AC3E}">
        <p14:creationId xmlns:p14="http://schemas.microsoft.com/office/powerpoint/2010/main" val="2069089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54620-3B04-28BE-34C3-6B6F08A8122B}"/>
              </a:ext>
            </a:extLst>
          </p:cNvPr>
          <p:cNvSpPr>
            <a:spLocks noGrp="1"/>
          </p:cNvSpPr>
          <p:nvPr>
            <p:ph type="title"/>
          </p:nvPr>
        </p:nvSpPr>
        <p:spPr>
          <a:xfrm>
            <a:off x="528765" y="0"/>
            <a:ext cx="10058400" cy="1810512"/>
          </a:xfrm>
        </p:spPr>
        <p:txBody>
          <a:bodyPr/>
          <a:lstStyle/>
          <a:p>
            <a:r>
              <a:rPr lang="en-IN" dirty="0">
                <a:solidFill>
                  <a:schemeClr val="bg1"/>
                </a:solidFill>
              </a:rPr>
              <a:t>Methodology</a:t>
            </a:r>
          </a:p>
        </p:txBody>
      </p:sp>
      <p:sp>
        <p:nvSpPr>
          <p:cNvPr id="3" name="Text Placeholder 2">
            <a:extLst>
              <a:ext uri="{FF2B5EF4-FFF2-40B4-BE49-F238E27FC236}">
                <a16:creationId xmlns:a16="http://schemas.microsoft.com/office/drawing/2014/main" id="{0DC5BCFF-EA3C-CB0A-B870-DFC1DAC9A803}"/>
              </a:ext>
            </a:extLst>
          </p:cNvPr>
          <p:cNvSpPr>
            <a:spLocks noGrp="1"/>
          </p:cNvSpPr>
          <p:nvPr>
            <p:ph type="body" idx="1"/>
          </p:nvPr>
        </p:nvSpPr>
        <p:spPr>
          <a:xfrm>
            <a:off x="528765" y="1673352"/>
            <a:ext cx="8535988" cy="4389120"/>
          </a:xfrm>
        </p:spPr>
        <p:txBody>
          <a:bodyPr>
            <a:noAutofit/>
          </a:bodyPr>
          <a:lstStyle/>
          <a:p>
            <a:r>
              <a:rPr lang="en-US" b="1" dirty="0">
                <a:solidFill>
                  <a:schemeClr val="tx1"/>
                </a:solidFill>
              </a:rPr>
              <a:t>Data Collection &amp; Preprocessing:</a:t>
            </a:r>
          </a:p>
          <a:p>
            <a:pPr marL="342900" indent="-342900">
              <a:buFont typeface="Arial" panose="020B0604020202020204" pitchFamily="34" charset="0"/>
              <a:buChar char="•"/>
            </a:pPr>
            <a:r>
              <a:rPr lang="en-US" dirty="0">
                <a:solidFill>
                  <a:schemeClr val="tx1"/>
                </a:solidFill>
              </a:rPr>
              <a:t>Sourced data with 662,591 URL samples.</a:t>
            </a:r>
          </a:p>
          <a:p>
            <a:pPr marL="342900" indent="-342900">
              <a:buFont typeface="Arial" panose="020B0604020202020204" pitchFamily="34" charset="0"/>
              <a:buChar char="•"/>
            </a:pPr>
            <a:r>
              <a:rPr lang="en-US" dirty="0">
                <a:solidFill>
                  <a:schemeClr val="tx1"/>
                </a:solidFill>
              </a:rPr>
              <a:t>Preprocessing Steps: Removed null values, scaled features, applied log transformation.</a:t>
            </a:r>
          </a:p>
          <a:p>
            <a:r>
              <a:rPr lang="en-US" b="1" dirty="0">
                <a:solidFill>
                  <a:schemeClr val="tx1"/>
                </a:solidFill>
              </a:rPr>
              <a:t>Feature Engineering:</a:t>
            </a:r>
          </a:p>
          <a:p>
            <a:pPr marL="342900" indent="-342900">
              <a:buFont typeface="Arial" panose="020B0604020202020204" pitchFamily="34" charset="0"/>
              <a:buChar char="•"/>
            </a:pPr>
            <a:r>
              <a:rPr lang="en-US" dirty="0">
                <a:solidFill>
                  <a:schemeClr val="tx1"/>
                </a:solidFill>
              </a:rPr>
              <a:t>Enhanced features such as URL length, number of suspicious characters, and HTTPS presence by normalizing </a:t>
            </a:r>
          </a:p>
          <a:p>
            <a:r>
              <a:rPr lang="en-US" b="1" dirty="0">
                <a:solidFill>
                  <a:schemeClr val="tx1"/>
                </a:solidFill>
              </a:rPr>
              <a:t>Model Selection:</a:t>
            </a:r>
          </a:p>
          <a:p>
            <a:pPr marL="342900" indent="-342900">
              <a:buFont typeface="Arial" panose="020B0604020202020204" pitchFamily="34" charset="0"/>
              <a:buChar char="•"/>
            </a:pPr>
            <a:r>
              <a:rPr lang="en-US" dirty="0">
                <a:solidFill>
                  <a:schemeClr val="tx1"/>
                </a:solidFill>
              </a:rPr>
              <a:t>Compared performance of Logistic Regression, K-Nearest Neighbors (KNN), Naive Bayes, Decision Tree, and Random Forest.</a:t>
            </a:r>
          </a:p>
          <a:p>
            <a:pPr marL="342900" indent="-342900">
              <a:buFont typeface="Arial" panose="020B0604020202020204" pitchFamily="34" charset="0"/>
              <a:buChar char="•"/>
            </a:pPr>
            <a:r>
              <a:rPr lang="en-US" dirty="0">
                <a:solidFill>
                  <a:schemeClr val="tx1"/>
                </a:solidFill>
              </a:rPr>
              <a:t>Training-Testing Split: 70% training, 30% testing with stratified sampling.</a:t>
            </a:r>
            <a:endParaRPr lang="en-IN" dirty="0">
              <a:solidFill>
                <a:schemeClr val="tx1"/>
              </a:solidFill>
            </a:endParaRPr>
          </a:p>
        </p:txBody>
      </p:sp>
    </p:spTree>
    <p:extLst>
      <p:ext uri="{BB962C8B-B14F-4D97-AF65-F5344CB8AC3E}">
        <p14:creationId xmlns:p14="http://schemas.microsoft.com/office/powerpoint/2010/main" val="363686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1031" name="Straight Connector 1030">
            <a:extLst>
              <a:ext uri="{FF2B5EF4-FFF2-40B4-BE49-F238E27FC236}">
                <a16:creationId xmlns:a16="http://schemas.microsoft.com/office/drawing/2014/main" id="{DD6CFB6C-6ECB-4250-B68E-01966297A5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B8359141-C085-46E4-B4EC-42F9599BA7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5" name="Straight Connector 1034">
            <a:extLst>
              <a:ext uri="{FF2B5EF4-FFF2-40B4-BE49-F238E27FC236}">
                <a16:creationId xmlns:a16="http://schemas.microsoft.com/office/drawing/2014/main" id="{FA903156-0F0C-44A5-9019-0CAF51EB49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7" name="Straight Connector 1036">
            <a:extLst>
              <a:ext uri="{FF2B5EF4-FFF2-40B4-BE49-F238E27FC236}">
                <a16:creationId xmlns:a16="http://schemas.microsoft.com/office/drawing/2014/main" id="{66E5E851-3725-463F-9451-2FFEF5D3E0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9" name="Straight Connector 1038">
            <a:extLst>
              <a:ext uri="{FF2B5EF4-FFF2-40B4-BE49-F238E27FC236}">
                <a16:creationId xmlns:a16="http://schemas.microsoft.com/office/drawing/2014/main" id="{94209D59-6810-40C2-B8D6-6DACF8A061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041" name="Rectangle 1040">
            <a:extLst>
              <a:ext uri="{FF2B5EF4-FFF2-40B4-BE49-F238E27FC236}">
                <a16:creationId xmlns:a16="http://schemas.microsoft.com/office/drawing/2014/main" id="{0BE1027C-ABCB-4C82-91A2-F67B9A5A6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F7963-9722-7F1C-E55B-1DBCF2BE8B25}"/>
              </a:ext>
            </a:extLst>
          </p:cNvPr>
          <p:cNvSpPr>
            <a:spLocks noGrp="1"/>
          </p:cNvSpPr>
          <p:nvPr>
            <p:ph type="title"/>
          </p:nvPr>
        </p:nvSpPr>
        <p:spPr>
          <a:xfrm>
            <a:off x="665641" y="4473679"/>
            <a:ext cx="9552558" cy="1233251"/>
          </a:xfrm>
        </p:spPr>
        <p:txBody>
          <a:bodyPr vert="horz" lIns="91440" tIns="45720" rIns="91440" bIns="45720" rtlCol="0" anchor="b">
            <a:normAutofit/>
          </a:bodyPr>
          <a:lstStyle/>
          <a:p>
            <a:pPr>
              <a:lnSpc>
                <a:spcPct val="90000"/>
              </a:lnSpc>
            </a:pPr>
            <a:r>
              <a:rPr lang="en-US" sz="3600" dirty="0"/>
              <a:t>Exploratory Data Analysis (EDA)</a:t>
            </a:r>
          </a:p>
        </p:txBody>
      </p:sp>
      <p:grpSp>
        <p:nvGrpSpPr>
          <p:cNvPr id="1043" name="Group 1042">
            <a:extLst>
              <a:ext uri="{FF2B5EF4-FFF2-40B4-BE49-F238E27FC236}">
                <a16:creationId xmlns:a16="http://schemas.microsoft.com/office/drawing/2014/main" id="{0CC57C46-4659-4AF2-9180-2DEED214CD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044" name="Straight Connector 1043">
              <a:extLst>
                <a:ext uri="{FF2B5EF4-FFF2-40B4-BE49-F238E27FC236}">
                  <a16:creationId xmlns:a16="http://schemas.microsoft.com/office/drawing/2014/main" id="{CFB52317-0F00-40C0-B1F2-33ED6D30D97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5" name="Straight Connector 1044">
              <a:extLst>
                <a:ext uri="{FF2B5EF4-FFF2-40B4-BE49-F238E27FC236}">
                  <a16:creationId xmlns:a16="http://schemas.microsoft.com/office/drawing/2014/main" id="{2468ACF9-4EF2-4251-9FAD-3F225BF7417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6" name="Straight Connector 1045">
              <a:extLst>
                <a:ext uri="{FF2B5EF4-FFF2-40B4-BE49-F238E27FC236}">
                  <a16:creationId xmlns:a16="http://schemas.microsoft.com/office/drawing/2014/main" id="{CE4A3ECD-6924-4912-B117-3C617B584BC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7" name="Straight Connector 1046">
              <a:extLst>
                <a:ext uri="{FF2B5EF4-FFF2-40B4-BE49-F238E27FC236}">
                  <a16:creationId xmlns:a16="http://schemas.microsoft.com/office/drawing/2014/main" id="{D1DFE1F5-FA7A-403F-B9D9-0434E2BE2F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8" name="Straight Connector 1047">
              <a:extLst>
                <a:ext uri="{FF2B5EF4-FFF2-40B4-BE49-F238E27FC236}">
                  <a16:creationId xmlns:a16="http://schemas.microsoft.com/office/drawing/2014/main" id="{92CF27E4-09D0-444E-B18D-F904871038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050" name="Snip Diagonal Corner Rectangle 12">
            <a:extLst>
              <a:ext uri="{FF2B5EF4-FFF2-40B4-BE49-F238E27FC236}">
                <a16:creationId xmlns:a16="http://schemas.microsoft.com/office/drawing/2014/main" id="{FDAF26D5-7469-49F5-902D-571FA58A7E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251" y="690851"/>
            <a:ext cx="9615670" cy="3584587"/>
          </a:xfrm>
          <a:prstGeom prst="snip2DiagRect">
            <a:avLst>
              <a:gd name="adj1" fmla="val 12305"/>
              <a:gd name="adj2" fmla="val 0"/>
            </a:avLst>
          </a:prstGeom>
          <a:solidFill>
            <a:schemeClr val="tx1"/>
          </a:solidFill>
          <a:ln>
            <a:solidFill>
              <a:srgbClr val="FFFFFF">
                <a:alpha val="40000"/>
              </a:srgbClr>
            </a:soli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BD2E596A-E6BB-2AE3-CB7E-94C4D4BAB77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81173" y="1016001"/>
            <a:ext cx="4162020" cy="30278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graph of a number of blue squares&#10;&#10;Description automatically generated">
            <a:extLst>
              <a:ext uri="{FF2B5EF4-FFF2-40B4-BE49-F238E27FC236}">
                <a16:creationId xmlns:a16="http://schemas.microsoft.com/office/drawing/2014/main" id="{5341397E-D20D-BD5A-5C8F-13263651CD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720844" y="995767"/>
            <a:ext cx="3997511" cy="3048103"/>
          </a:xfrm>
          <a:prstGeom prst="rect">
            <a:avLst/>
          </a:prstGeom>
          <a:noFill/>
        </p:spPr>
      </p:pic>
    </p:spTree>
    <p:extLst>
      <p:ext uri="{BB962C8B-B14F-4D97-AF65-F5344CB8AC3E}">
        <p14:creationId xmlns:p14="http://schemas.microsoft.com/office/powerpoint/2010/main" val="4228812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3C5AE4C-9D82-C93F-EA24-BFDD6AA8C883}"/>
              </a:ext>
            </a:extLst>
          </p:cNvPr>
          <p:cNvSpPr>
            <a:spLocks noGrp="1"/>
          </p:cNvSpPr>
          <p:nvPr>
            <p:ph type="body" idx="1"/>
          </p:nvPr>
        </p:nvSpPr>
        <p:spPr>
          <a:xfrm>
            <a:off x="853023" y="724095"/>
            <a:ext cx="9430459" cy="5056474"/>
          </a:xfrm>
        </p:spPr>
        <p:txBody>
          <a:bodyPr>
            <a:normAutofit/>
          </a:bodyPr>
          <a:lstStyle/>
          <a:p>
            <a:pPr marL="342900" indent="-342900">
              <a:buFont typeface="Arial" panose="020B0604020202020204" pitchFamily="34" charset="0"/>
              <a:buChar char="•"/>
            </a:pPr>
            <a:r>
              <a:rPr lang="en-US" dirty="0">
                <a:solidFill>
                  <a:schemeClr val="tx1"/>
                </a:solidFill>
              </a:rPr>
              <a:t>The histogram indicates that phishing URLs are typically lengthier.</a:t>
            </a:r>
          </a:p>
          <a:p>
            <a:pPr marL="342900" indent="-342900">
              <a:buFont typeface="Arial" panose="020B0604020202020204" pitchFamily="34" charset="0"/>
              <a:buChar char="•"/>
            </a:pPr>
            <a:r>
              <a:rPr lang="en-US" dirty="0">
                <a:solidFill>
                  <a:schemeClr val="tx1"/>
                </a:solidFill>
              </a:rPr>
              <a:t>A bar chart that shows the greater frequencies of special characters ("@" and "%") in phishing URLs is an example of character analysis.</a:t>
            </a:r>
          </a:p>
          <a:p>
            <a:pPr marL="342900" indent="-342900">
              <a:buFont typeface="Arial" panose="020B0604020202020204" pitchFamily="34" charset="0"/>
              <a:buChar char="•"/>
            </a:pPr>
            <a:r>
              <a:rPr lang="en-US" dirty="0">
                <a:solidFill>
                  <a:schemeClr val="tx1"/>
                </a:solidFill>
              </a:rPr>
              <a:t> A comparison bar chart shows that phishing websites frequently don't have HTTPS protection.</a:t>
            </a:r>
          </a:p>
          <a:p>
            <a:pPr marL="342900" indent="-342900">
              <a:buFont typeface="Arial" panose="020B0604020202020204" pitchFamily="34" charset="0"/>
              <a:buChar char="•"/>
            </a:pPr>
            <a:r>
              <a:rPr lang="en-US" dirty="0">
                <a:solidFill>
                  <a:schemeClr val="tx1"/>
                </a:solidFill>
              </a:rPr>
              <a:t>Weak individual feature correlations were displayed in the correlation matrix, indicating the significance of combined features.</a:t>
            </a:r>
            <a:endParaRPr lang="en-IN" dirty="0">
              <a:solidFill>
                <a:schemeClr val="tx1"/>
              </a:solidFill>
            </a:endParaRPr>
          </a:p>
        </p:txBody>
      </p:sp>
      <p:sp>
        <p:nvSpPr>
          <p:cNvPr id="4" name="TextBox 3">
            <a:extLst>
              <a:ext uri="{FF2B5EF4-FFF2-40B4-BE49-F238E27FC236}">
                <a16:creationId xmlns:a16="http://schemas.microsoft.com/office/drawing/2014/main" id="{FC3A3602-740D-ED47-6E2E-B5033DBA4F1C}"/>
              </a:ext>
            </a:extLst>
          </p:cNvPr>
          <p:cNvSpPr txBox="1"/>
          <p:nvPr/>
        </p:nvSpPr>
        <p:spPr>
          <a:xfrm>
            <a:off x="1181686" y="1077431"/>
            <a:ext cx="6105378" cy="646331"/>
          </a:xfrm>
          <a:prstGeom prst="rect">
            <a:avLst/>
          </a:prstGeom>
          <a:noFill/>
        </p:spPr>
        <p:txBody>
          <a:bodyPr wrap="square">
            <a:spAutoFit/>
          </a:bodyPr>
          <a:lstStyle/>
          <a:p>
            <a:r>
              <a:rPr lang="en-US" sz="3600" dirty="0">
                <a:solidFill>
                  <a:schemeClr val="bg1"/>
                </a:solidFill>
              </a:rPr>
              <a:t>Overview of EDA</a:t>
            </a:r>
          </a:p>
        </p:txBody>
      </p:sp>
    </p:spTree>
    <p:extLst>
      <p:ext uri="{BB962C8B-B14F-4D97-AF65-F5344CB8AC3E}">
        <p14:creationId xmlns:p14="http://schemas.microsoft.com/office/powerpoint/2010/main" val="1993639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9" name="Rectangle 18">
            <a:extLst>
              <a:ext uri="{FF2B5EF4-FFF2-40B4-BE49-F238E27FC236}">
                <a16:creationId xmlns:a16="http://schemas.microsoft.com/office/drawing/2014/main" id="{C5BDD1EA-D8C1-45AF-9F0A-14A2A137BA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9F8AE-0A12-84D5-B4E6-B042A5071F2D}"/>
              </a:ext>
            </a:extLst>
          </p:cNvPr>
          <p:cNvSpPr>
            <a:spLocks noGrp="1"/>
          </p:cNvSpPr>
          <p:nvPr>
            <p:ph type="title"/>
          </p:nvPr>
        </p:nvSpPr>
        <p:spPr>
          <a:xfrm>
            <a:off x="7581924" y="-257737"/>
            <a:ext cx="3971902" cy="3028983"/>
          </a:xfrm>
        </p:spPr>
        <p:txBody>
          <a:bodyPr vert="horz" lIns="91440" tIns="45720" rIns="91440" bIns="45720" rtlCol="0" anchor="b">
            <a:normAutofit/>
          </a:bodyPr>
          <a:lstStyle/>
          <a:p>
            <a:r>
              <a:rPr lang="en-IN" sz="3600" dirty="0">
                <a:solidFill>
                  <a:schemeClr val="bg1"/>
                </a:solidFill>
              </a:rPr>
              <a:t>Model performances:</a:t>
            </a:r>
            <a:endParaRPr lang="en-US" sz="3600" dirty="0">
              <a:solidFill>
                <a:schemeClr val="bg1"/>
              </a:solidFill>
            </a:endParaRPr>
          </a:p>
        </p:txBody>
      </p:sp>
      <p:sp>
        <p:nvSpPr>
          <p:cNvPr id="21" name="Snip Diagonal Corner Rectangle 6">
            <a:extLst>
              <a:ext uri="{FF2B5EF4-FFF2-40B4-BE49-F238E27FC236}">
                <a16:creationId xmlns:a16="http://schemas.microsoft.com/office/drawing/2014/main" id="{14354E08-0068-48D7-A8AD-84C7B1CF5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000" y="620722"/>
            <a:ext cx="6575496"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779F34F-2960-4B81-BA08-445B6F6A0C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4" name="Straight Connector 23">
              <a:extLst>
                <a:ext uri="{FF2B5EF4-FFF2-40B4-BE49-F238E27FC236}">
                  <a16:creationId xmlns:a16="http://schemas.microsoft.com/office/drawing/2014/main" id="{10A57ACC-416F-4A5D-B7F7-DDA9886A3A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6522B4F-50C4-4FCE-8AE2-3789D63ED3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C3978FC-B5D1-42BE-B086-BC2A733D58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CED99F1-340D-4970-8E66-3B28E92711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0A54E39-63C0-4847-A766-C6B74FEB48D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050" name="Picture 2">
            <a:extLst>
              <a:ext uri="{FF2B5EF4-FFF2-40B4-BE49-F238E27FC236}">
                <a16:creationId xmlns:a16="http://schemas.microsoft.com/office/drawing/2014/main" id="{1FDB6505-0F09-DEFE-3E21-BBB81C7F1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681" y="1072025"/>
            <a:ext cx="6225089" cy="43862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8A29AD6-D476-846E-4FC8-01B52F3B64AF}"/>
              </a:ext>
            </a:extLst>
          </p:cNvPr>
          <p:cNvSpPr txBox="1"/>
          <p:nvPr/>
        </p:nvSpPr>
        <p:spPr>
          <a:xfrm>
            <a:off x="7581924" y="2963333"/>
            <a:ext cx="3971902" cy="2554545"/>
          </a:xfrm>
          <a:prstGeom prst="rect">
            <a:avLst/>
          </a:prstGeom>
          <a:noFill/>
        </p:spPr>
        <p:txBody>
          <a:bodyPr wrap="square" rtlCol="0">
            <a:spAutoFit/>
          </a:bodyPr>
          <a:lstStyle/>
          <a:p>
            <a:pPr marL="285750" indent="-285750" algn="l">
              <a:buFont typeface="Arial" panose="020B0604020202020204" pitchFamily="34" charset="0"/>
              <a:buChar char="•"/>
            </a:pPr>
            <a:r>
              <a:rPr lang="en-IN" sz="2000" i="0" dirty="0">
                <a:effectLst/>
                <a:latin typeface="+mj-lt"/>
              </a:rPr>
              <a:t>Random Forest is the best performer, excelling in both accuracy and precision.</a:t>
            </a:r>
          </a:p>
          <a:p>
            <a:pPr marL="285750" indent="-285750">
              <a:buFont typeface="Arial" panose="020B0604020202020204" pitchFamily="34" charset="0"/>
              <a:buChar char="•"/>
            </a:pPr>
            <a:r>
              <a:rPr lang="en-IN" sz="2000" i="0" dirty="0">
                <a:effectLst/>
                <a:latin typeface="+mj-lt"/>
              </a:rPr>
              <a:t>Decision Tree and KNN are good alternatives, with KNN achieving higher accuracy but lower precision</a:t>
            </a:r>
            <a:br>
              <a:rPr lang="en-IN" sz="2000" dirty="0">
                <a:latin typeface="+mj-lt"/>
              </a:rPr>
            </a:br>
            <a:endParaRPr lang="en-US" sz="2000" dirty="0">
              <a:latin typeface="+mj-lt"/>
            </a:endParaRPr>
          </a:p>
        </p:txBody>
      </p:sp>
    </p:spTree>
    <p:extLst>
      <p:ext uri="{BB962C8B-B14F-4D97-AF65-F5344CB8AC3E}">
        <p14:creationId xmlns:p14="http://schemas.microsoft.com/office/powerpoint/2010/main" val="4246799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3079" name="Group 3078">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080" name="Straight Connector 3079">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81" name="Straight Connector 3080">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82" name="Straight Connector 3081">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83" name="Straight Connector 3082">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84" name="Straight Connector 3083">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3086" name="Rectangle 3085">
            <a:extLst>
              <a:ext uri="{FF2B5EF4-FFF2-40B4-BE49-F238E27FC236}">
                <a16:creationId xmlns:a16="http://schemas.microsoft.com/office/drawing/2014/main" id="{E09CCB3F-DBCE-4964-9E34-8C5DE80EF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6BC802-8193-CCC5-33E6-8399E9E5748D}"/>
              </a:ext>
            </a:extLst>
          </p:cNvPr>
          <p:cNvSpPr>
            <a:spLocks noGrp="1"/>
          </p:cNvSpPr>
          <p:nvPr>
            <p:ph type="title"/>
          </p:nvPr>
        </p:nvSpPr>
        <p:spPr>
          <a:xfrm>
            <a:off x="7721811" y="374786"/>
            <a:ext cx="3518748" cy="2381509"/>
          </a:xfrm>
        </p:spPr>
        <p:txBody>
          <a:bodyPr vert="horz" lIns="91440" tIns="45720" rIns="91440" bIns="45720" rtlCol="0" anchor="b">
            <a:noAutofit/>
          </a:bodyPr>
          <a:lstStyle/>
          <a:p>
            <a:r>
              <a:rPr lang="en-US" sz="3600" dirty="0">
                <a:solidFill>
                  <a:schemeClr val="bg1"/>
                </a:solidFill>
              </a:rPr>
              <a:t>Result Evaluation </a:t>
            </a:r>
          </a:p>
        </p:txBody>
      </p:sp>
      <p:sp>
        <p:nvSpPr>
          <p:cNvPr id="3088" name="Snip Diagonal Corner Rectangle 24">
            <a:extLst>
              <a:ext uri="{FF2B5EF4-FFF2-40B4-BE49-F238E27FC236}">
                <a16:creationId xmlns:a16="http://schemas.microsoft.com/office/drawing/2014/main" id="{1DFF944F-74BA-483A-82C0-64E3AAF4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90" y="620722"/>
            <a:ext cx="6575496"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6DF6F7E1-3741-59C9-1B04-91CC968BB5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10879"/>
          <a:stretch/>
        </p:blipFill>
        <p:spPr bwMode="auto">
          <a:xfrm>
            <a:off x="778062" y="786117"/>
            <a:ext cx="6245352" cy="4956048"/>
          </a:xfrm>
          <a:custGeom>
            <a:avLst/>
            <a:gdLst/>
            <a:ahLst/>
            <a:cxnLst/>
            <a:rect l="l" t="t" r="r" b="b"/>
            <a:pathLst>
              <a:path w="6245352" h="4956048">
                <a:moveTo>
                  <a:pt x="534609" y="0"/>
                </a:moveTo>
                <a:lnTo>
                  <a:pt x="6245352" y="0"/>
                </a:lnTo>
                <a:lnTo>
                  <a:pt x="6245352" y="4421439"/>
                </a:lnTo>
                <a:lnTo>
                  <a:pt x="5710743" y="4956048"/>
                </a:lnTo>
                <a:lnTo>
                  <a:pt x="0" y="4956048"/>
                </a:lnTo>
                <a:lnTo>
                  <a:pt x="0" y="534609"/>
                </a:lnTo>
                <a:close/>
              </a:path>
            </a:pathLst>
          </a:custGeom>
          <a:noFill/>
          <a:extLst>
            <a:ext uri="{909E8E84-426E-40DD-AFC4-6F175D3DCCD1}">
              <a14:hiddenFill xmlns:a14="http://schemas.microsoft.com/office/drawing/2010/main">
                <a:solidFill>
                  <a:srgbClr val="FFFFFF"/>
                </a:solidFill>
              </a14:hiddenFill>
            </a:ext>
          </a:extLst>
        </p:spPr>
      </p:pic>
      <p:grpSp>
        <p:nvGrpSpPr>
          <p:cNvPr id="3090" name="Group 3089">
            <a:extLst>
              <a:ext uri="{FF2B5EF4-FFF2-40B4-BE49-F238E27FC236}">
                <a16:creationId xmlns:a16="http://schemas.microsoft.com/office/drawing/2014/main" id="{A9733A91-F958-4629-801A-3F6F1E09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091" name="Straight Connector 3090">
              <a:extLst>
                <a:ext uri="{FF2B5EF4-FFF2-40B4-BE49-F238E27FC236}">
                  <a16:creationId xmlns:a16="http://schemas.microsoft.com/office/drawing/2014/main" id="{F3812972-C68B-4C59-B3A7-4AF61E935D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92" name="Straight Connector 3091">
              <a:extLst>
                <a:ext uri="{FF2B5EF4-FFF2-40B4-BE49-F238E27FC236}">
                  <a16:creationId xmlns:a16="http://schemas.microsoft.com/office/drawing/2014/main" id="{CB3F3B7C-7909-4486-AA08-5C6B625C3A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93" name="Straight Connector 3092">
              <a:extLst>
                <a:ext uri="{FF2B5EF4-FFF2-40B4-BE49-F238E27FC236}">
                  <a16:creationId xmlns:a16="http://schemas.microsoft.com/office/drawing/2014/main" id="{00BD7DA8-741F-4296-9363-05EF915411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94" name="Straight Connector 3093">
              <a:extLst>
                <a:ext uri="{FF2B5EF4-FFF2-40B4-BE49-F238E27FC236}">
                  <a16:creationId xmlns:a16="http://schemas.microsoft.com/office/drawing/2014/main" id="{62068EFC-20FC-456F-839F-4BCFFCAA819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95" name="Straight Connector 3094">
              <a:extLst>
                <a:ext uri="{FF2B5EF4-FFF2-40B4-BE49-F238E27FC236}">
                  <a16:creationId xmlns:a16="http://schemas.microsoft.com/office/drawing/2014/main" id="{3251C60F-B911-433E-BF75-3BBEFD0538C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DE1FFB7F-B194-3F76-1DC2-12060B89A2A7}"/>
              </a:ext>
            </a:extLst>
          </p:cNvPr>
          <p:cNvSpPr txBox="1"/>
          <p:nvPr/>
        </p:nvSpPr>
        <p:spPr>
          <a:xfrm>
            <a:off x="8032652" y="2963332"/>
            <a:ext cx="3546358" cy="2554545"/>
          </a:xfrm>
          <a:prstGeom prst="rect">
            <a:avLst/>
          </a:prstGeom>
          <a:noFill/>
        </p:spPr>
        <p:txBody>
          <a:bodyPr wrap="square" rtlCol="0">
            <a:spAutoFit/>
          </a:bodyPr>
          <a:lstStyle/>
          <a:p>
            <a:pPr marL="285750" indent="-285750">
              <a:buFont typeface="Arial" panose="020B0604020202020204" pitchFamily="34" charset="0"/>
              <a:buChar char="•"/>
            </a:pPr>
            <a:r>
              <a:rPr lang="en-IN" sz="2000" b="0" i="0" dirty="0">
                <a:effectLst/>
              </a:rPr>
              <a:t>83% of data is correctly classified </a:t>
            </a:r>
          </a:p>
          <a:p>
            <a:pPr marL="285750" indent="-285750">
              <a:buFont typeface="Arial" panose="020B0604020202020204" pitchFamily="34" charset="0"/>
              <a:buChar char="•"/>
            </a:pPr>
            <a:r>
              <a:rPr lang="en-IN" sz="2000" b="0" i="0" dirty="0">
                <a:effectLst/>
              </a:rPr>
              <a:t>14% of the total predictions are phishing URLs that were incorrectly classified as non-phishing (false positives)</a:t>
            </a:r>
            <a:endParaRPr lang="en-US" sz="2000" dirty="0"/>
          </a:p>
        </p:txBody>
      </p:sp>
    </p:spTree>
    <p:extLst>
      <p:ext uri="{BB962C8B-B14F-4D97-AF65-F5344CB8AC3E}">
        <p14:creationId xmlns:p14="http://schemas.microsoft.com/office/powerpoint/2010/main" val="4267670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52FE-BAAA-98B4-EE6A-D44829E9C3A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6D172D9-A3D6-45C8-6C06-55A2D88C039B}"/>
              </a:ext>
            </a:extLst>
          </p:cNvPr>
          <p:cNvSpPr>
            <a:spLocks noGrp="1"/>
          </p:cNvSpPr>
          <p:nvPr>
            <p:ph type="body" idx="1"/>
          </p:nvPr>
        </p:nvSpPr>
        <p:spPr>
          <a:xfrm>
            <a:off x="6287487" y="4681037"/>
            <a:ext cx="5774385" cy="1212397"/>
          </a:xfrm>
        </p:spPr>
        <p:txBody>
          <a:bodyPr/>
          <a:lstStyle/>
          <a:p>
            <a:endParaRPr lang="en-US" dirty="0"/>
          </a:p>
        </p:txBody>
      </p:sp>
      <p:pic>
        <p:nvPicPr>
          <p:cNvPr id="4098" name="Picture 2">
            <a:extLst>
              <a:ext uri="{FF2B5EF4-FFF2-40B4-BE49-F238E27FC236}">
                <a16:creationId xmlns:a16="http://schemas.microsoft.com/office/drawing/2014/main" id="{BCF26742-D62A-A4ED-D898-CA9A3AA06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36" y="263768"/>
            <a:ext cx="5734978" cy="466529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FB8C2DD8-D12A-D737-6EF0-45C316782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9783" y="263768"/>
            <a:ext cx="5642681" cy="466529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8C63F6-52CF-1268-2FDD-B0B923F2605A}"/>
              </a:ext>
            </a:extLst>
          </p:cNvPr>
          <p:cNvSpPr txBox="1"/>
          <p:nvPr/>
        </p:nvSpPr>
        <p:spPr>
          <a:xfrm>
            <a:off x="598657" y="5270793"/>
            <a:ext cx="11377659" cy="1323439"/>
          </a:xfrm>
          <a:prstGeom prst="rect">
            <a:avLst/>
          </a:prstGeom>
          <a:noFill/>
        </p:spPr>
        <p:txBody>
          <a:bodyPr wrap="square" rtlCol="0">
            <a:spAutoFit/>
          </a:bodyPr>
          <a:lstStyle/>
          <a:p>
            <a:pPr marL="285750" indent="-285750" algn="l">
              <a:buFont typeface="Arial" panose="020B0604020202020204" pitchFamily="34" charset="0"/>
              <a:buChar char="•"/>
            </a:pPr>
            <a:r>
              <a:rPr lang="en-IN" sz="2000" b="0" i="0" dirty="0">
                <a:effectLst/>
              </a:rPr>
              <a:t>An AUC of 0.91 means that the model has a very good ability to distinguish between the two classes.</a:t>
            </a:r>
            <a:r>
              <a:rPr lang="en-IN" sz="2000" dirty="0"/>
              <a:t> , </a:t>
            </a:r>
          </a:p>
          <a:p>
            <a:pPr marL="285750" indent="-285750" algn="l">
              <a:buFont typeface="Arial" panose="020B0604020202020204" pitchFamily="34" charset="0"/>
              <a:buChar char="•"/>
            </a:pPr>
            <a:r>
              <a:rPr lang="en-IN" sz="2000" b="0" i="0" dirty="0">
                <a:effectLst/>
              </a:rPr>
              <a:t> This means the model is catching more of the phishing URLs, but at the cost of also wrongly predicting some safe URLs as phishing.</a:t>
            </a:r>
          </a:p>
        </p:txBody>
      </p:sp>
    </p:spTree>
    <p:extLst>
      <p:ext uri="{BB962C8B-B14F-4D97-AF65-F5344CB8AC3E}">
        <p14:creationId xmlns:p14="http://schemas.microsoft.com/office/powerpoint/2010/main" val="668456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E954C-2CA9-7254-DF71-168D7883FE5F}"/>
              </a:ext>
            </a:extLst>
          </p:cNvPr>
          <p:cNvSpPr>
            <a:spLocks noGrp="1"/>
          </p:cNvSpPr>
          <p:nvPr>
            <p:ph type="title"/>
          </p:nvPr>
        </p:nvSpPr>
        <p:spPr>
          <a:xfrm>
            <a:off x="684213" y="685800"/>
            <a:ext cx="10058400" cy="1252728"/>
          </a:xfrm>
        </p:spPr>
        <p:txBody>
          <a:bodyPr>
            <a:normAutofit/>
          </a:bodyPr>
          <a:lstStyle/>
          <a:p>
            <a:r>
              <a:rPr lang="en-IN" sz="3600" dirty="0">
                <a:solidFill>
                  <a:schemeClr val="bg1"/>
                </a:solidFill>
              </a:rPr>
              <a:t>Key findings</a:t>
            </a:r>
          </a:p>
        </p:txBody>
      </p:sp>
      <p:sp>
        <p:nvSpPr>
          <p:cNvPr id="3" name="Text Placeholder 2">
            <a:extLst>
              <a:ext uri="{FF2B5EF4-FFF2-40B4-BE49-F238E27FC236}">
                <a16:creationId xmlns:a16="http://schemas.microsoft.com/office/drawing/2014/main" id="{00261D28-7A94-8985-6880-E7A5B7781955}"/>
              </a:ext>
            </a:extLst>
          </p:cNvPr>
          <p:cNvSpPr>
            <a:spLocks noGrp="1"/>
          </p:cNvSpPr>
          <p:nvPr>
            <p:ph type="body" idx="1"/>
          </p:nvPr>
        </p:nvSpPr>
        <p:spPr>
          <a:xfrm>
            <a:off x="684212" y="2048256"/>
            <a:ext cx="8535988" cy="3946144"/>
          </a:xfrm>
        </p:spPr>
        <p:txBody>
          <a:bodyPr>
            <a:normAutofit/>
          </a:bodyPr>
          <a:lstStyle/>
          <a:p>
            <a:r>
              <a:rPr lang="en-US" dirty="0">
                <a:solidFill>
                  <a:schemeClr val="tx1"/>
                </a:solidFill>
              </a:rPr>
              <a:t>Random Forest is the most effective model, with the best accuracy and AUC (0.91).</a:t>
            </a:r>
          </a:p>
          <a:p>
            <a:r>
              <a:rPr lang="en-US" dirty="0">
                <a:solidFill>
                  <a:schemeClr val="tx1"/>
                </a:solidFill>
              </a:rPr>
              <a:t>Important characteristics:</a:t>
            </a:r>
          </a:p>
          <a:p>
            <a:pPr marL="342900" indent="-342900">
              <a:buFont typeface="Arial" panose="020B0604020202020204" pitchFamily="34" charset="0"/>
              <a:buChar char="•"/>
            </a:pPr>
            <a:r>
              <a:rPr lang="en-US" dirty="0">
                <a:solidFill>
                  <a:schemeClr val="tx1"/>
                </a:solidFill>
              </a:rPr>
              <a:t>URL Length: Phishing frequently uses longer URLs.</a:t>
            </a:r>
          </a:p>
          <a:p>
            <a:pPr marL="342900" indent="-342900">
              <a:buFont typeface="Arial" panose="020B0604020202020204" pitchFamily="34" charset="0"/>
              <a:buChar char="•"/>
            </a:pPr>
            <a:r>
              <a:rPr lang="en-US" dirty="0">
                <a:solidFill>
                  <a:schemeClr val="tx1"/>
                </a:solidFill>
              </a:rPr>
              <a:t>Phishing URLs often contain special characters.</a:t>
            </a:r>
          </a:p>
          <a:p>
            <a:pPr marL="342900" indent="-342900">
              <a:buFont typeface="Arial" panose="020B0604020202020204" pitchFamily="34" charset="0"/>
              <a:buChar char="•"/>
            </a:pPr>
            <a:r>
              <a:rPr lang="en-US" dirty="0">
                <a:solidFill>
                  <a:schemeClr val="tx1"/>
                </a:solidFill>
              </a:rPr>
              <a:t>HTTPS Presence: Phishing may imitate HTTPS, but legitimate URLs usually use it.</a:t>
            </a:r>
          </a:p>
          <a:p>
            <a:r>
              <a:rPr lang="en-US" dirty="0">
                <a:solidFill>
                  <a:schemeClr val="tx1"/>
                </a:solidFill>
              </a:rPr>
              <a:t>Ensemble models are the most effective at capturing the intricate, non-linear patterns found in phishing URLs.</a:t>
            </a:r>
            <a:endParaRPr lang="en-IN" dirty="0">
              <a:solidFill>
                <a:schemeClr val="tx1"/>
              </a:solidFill>
            </a:endParaRPr>
          </a:p>
        </p:txBody>
      </p:sp>
    </p:spTree>
    <p:extLst>
      <p:ext uri="{BB962C8B-B14F-4D97-AF65-F5344CB8AC3E}">
        <p14:creationId xmlns:p14="http://schemas.microsoft.com/office/powerpoint/2010/main" val="2520507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9F0BF-2AE5-D27A-A8CF-02DB61A365D3}"/>
              </a:ext>
            </a:extLst>
          </p:cNvPr>
          <p:cNvSpPr>
            <a:spLocks noGrp="1"/>
          </p:cNvSpPr>
          <p:nvPr>
            <p:ph type="title"/>
          </p:nvPr>
        </p:nvSpPr>
        <p:spPr>
          <a:xfrm>
            <a:off x="684213" y="685800"/>
            <a:ext cx="10058400" cy="1408176"/>
          </a:xfrm>
        </p:spPr>
        <p:txBody>
          <a:bodyPr/>
          <a:lstStyle/>
          <a:p>
            <a:r>
              <a:rPr lang="en-IN" dirty="0">
                <a:solidFill>
                  <a:schemeClr val="bg1"/>
                </a:solidFill>
              </a:rPr>
              <a:t>Recommendations</a:t>
            </a:r>
          </a:p>
        </p:txBody>
      </p:sp>
      <p:sp>
        <p:nvSpPr>
          <p:cNvPr id="3" name="Text Placeholder 2">
            <a:extLst>
              <a:ext uri="{FF2B5EF4-FFF2-40B4-BE49-F238E27FC236}">
                <a16:creationId xmlns:a16="http://schemas.microsoft.com/office/drawing/2014/main" id="{2E7C5FC1-31EF-9906-E1D9-FA9CC56F934D}"/>
              </a:ext>
            </a:extLst>
          </p:cNvPr>
          <p:cNvSpPr>
            <a:spLocks noGrp="1"/>
          </p:cNvSpPr>
          <p:nvPr>
            <p:ph type="body" idx="1"/>
          </p:nvPr>
        </p:nvSpPr>
        <p:spPr>
          <a:xfrm>
            <a:off x="684212" y="1947672"/>
            <a:ext cx="8535988" cy="4046728"/>
          </a:xfrm>
        </p:spPr>
        <p:txBody>
          <a:bodyPr/>
          <a:lstStyle/>
          <a:p>
            <a:pPr marL="342900" indent="-342900">
              <a:buFont typeface="Arial" panose="020B0604020202020204" pitchFamily="34" charset="0"/>
              <a:buChar char="•"/>
            </a:pPr>
            <a:r>
              <a:rPr lang="en-US" b="1" dirty="0">
                <a:solidFill>
                  <a:schemeClr val="tx1"/>
                </a:solidFill>
              </a:rPr>
              <a:t>Feature Engineering</a:t>
            </a:r>
            <a:r>
              <a:rPr lang="en-US" dirty="0">
                <a:solidFill>
                  <a:schemeClr val="tx1"/>
                </a:solidFill>
              </a:rPr>
              <a:t>: Examining subdomain usage, path structures, and domain names in further detail. For additional information, looking at lexical analysis of URL content.</a:t>
            </a:r>
          </a:p>
          <a:p>
            <a:pPr marL="342900" indent="-342900">
              <a:buFont typeface="Arial" panose="020B0604020202020204" pitchFamily="34" charset="0"/>
              <a:buChar char="•"/>
            </a:pPr>
            <a:r>
              <a:rPr lang="en-US" b="1" dirty="0">
                <a:solidFill>
                  <a:schemeClr val="tx1"/>
                </a:solidFill>
              </a:rPr>
              <a:t>Advanced Techniques for Ensembles</a:t>
            </a:r>
            <a:r>
              <a:rPr lang="en-US" dirty="0">
                <a:solidFill>
                  <a:schemeClr val="tx1"/>
                </a:solidFill>
              </a:rPr>
              <a:t>: Try using Gradient Boosting and </a:t>
            </a:r>
            <a:r>
              <a:rPr lang="en-US" dirty="0" err="1">
                <a:solidFill>
                  <a:schemeClr val="tx1"/>
                </a:solidFill>
              </a:rPr>
              <a:t>XGBoost</a:t>
            </a:r>
            <a:r>
              <a:rPr lang="en-US" dirty="0">
                <a:solidFill>
                  <a:schemeClr val="tx1"/>
                </a:solidFill>
              </a:rPr>
              <a:t> for better prediction, and for increased accuracy, combining Random Forest with other models.</a:t>
            </a:r>
          </a:p>
          <a:p>
            <a:pPr marL="342900" indent="-342900">
              <a:buFont typeface="Arial" panose="020B0604020202020204" pitchFamily="34" charset="0"/>
              <a:buChar char="•"/>
            </a:pPr>
            <a:r>
              <a:rPr lang="en-US" b="1" dirty="0">
                <a:solidFill>
                  <a:schemeClr val="tx1"/>
                </a:solidFill>
              </a:rPr>
              <a:t>Real-Time Detection</a:t>
            </a:r>
            <a:r>
              <a:rPr lang="en-US" dirty="0">
                <a:solidFill>
                  <a:schemeClr val="tx1"/>
                </a:solidFill>
              </a:rPr>
              <a:t>: To adjust to changing phishing techniques, using real-time retraining and to guarantee efficiency, regularly checking the model's performance.</a:t>
            </a:r>
            <a:endParaRPr lang="en-IN" dirty="0">
              <a:solidFill>
                <a:schemeClr val="tx1"/>
              </a:solidFill>
            </a:endParaRPr>
          </a:p>
        </p:txBody>
      </p:sp>
    </p:spTree>
    <p:extLst>
      <p:ext uri="{BB962C8B-B14F-4D97-AF65-F5344CB8AC3E}">
        <p14:creationId xmlns:p14="http://schemas.microsoft.com/office/powerpoint/2010/main" val="2806870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8693B-982D-E7D7-7B47-84B9153C2746}"/>
              </a:ext>
            </a:extLst>
          </p:cNvPr>
          <p:cNvSpPr>
            <a:spLocks noGrp="1"/>
          </p:cNvSpPr>
          <p:nvPr>
            <p:ph type="title"/>
          </p:nvPr>
        </p:nvSpPr>
        <p:spPr>
          <a:xfrm>
            <a:off x="684212" y="-142240"/>
            <a:ext cx="10058400" cy="2743200"/>
          </a:xfrm>
        </p:spPr>
        <p:txBody>
          <a:bodyPr/>
          <a:lstStyle/>
          <a:p>
            <a:r>
              <a:rPr lang="en-IN" dirty="0">
                <a:solidFill>
                  <a:schemeClr val="bg1"/>
                </a:solidFill>
              </a:rPr>
              <a:t>Conclusion</a:t>
            </a:r>
          </a:p>
        </p:txBody>
      </p:sp>
      <p:sp>
        <p:nvSpPr>
          <p:cNvPr id="3" name="Text Placeholder 2">
            <a:extLst>
              <a:ext uri="{FF2B5EF4-FFF2-40B4-BE49-F238E27FC236}">
                <a16:creationId xmlns:a16="http://schemas.microsoft.com/office/drawing/2014/main" id="{3A8C9675-CE34-1E70-075F-574081EF11FF}"/>
              </a:ext>
            </a:extLst>
          </p:cNvPr>
          <p:cNvSpPr>
            <a:spLocks noGrp="1"/>
          </p:cNvSpPr>
          <p:nvPr>
            <p:ph type="body" idx="1"/>
          </p:nvPr>
        </p:nvSpPr>
        <p:spPr>
          <a:xfrm>
            <a:off x="684212" y="2011680"/>
            <a:ext cx="8535988" cy="3571240"/>
          </a:xfrm>
        </p:spPr>
        <p:txBody>
          <a:bodyPr/>
          <a:lstStyle/>
          <a:p>
            <a:r>
              <a:rPr lang="en-US" dirty="0">
                <a:solidFill>
                  <a:schemeClr val="tx1"/>
                </a:solidFill>
              </a:rPr>
              <a:t>With </a:t>
            </a:r>
            <a:r>
              <a:rPr lang="en-US" b="1" dirty="0">
                <a:solidFill>
                  <a:schemeClr val="tx1"/>
                </a:solidFill>
              </a:rPr>
              <a:t>Random Forest </a:t>
            </a:r>
            <a:r>
              <a:rPr lang="en-US" dirty="0">
                <a:solidFill>
                  <a:schemeClr val="tx1"/>
                </a:solidFill>
              </a:rPr>
              <a:t>appearing as the best performer, our investigation shows that machine learning models may greatly improve the detection of phishing URLs. Its capacity to strike a balance between robustness and high accuracy emphasizes how crucial it is to choose the best algorithm for this task. The model's performance was largely driven by key features that highlighted important signs of phishing attempts, such as the length of the URL and the inclusion of suspicious characters.</a:t>
            </a:r>
            <a:endParaRPr lang="en-IN" dirty="0">
              <a:solidFill>
                <a:schemeClr val="tx1"/>
              </a:solidFill>
            </a:endParaRPr>
          </a:p>
        </p:txBody>
      </p:sp>
    </p:spTree>
    <p:extLst>
      <p:ext uri="{BB962C8B-B14F-4D97-AF65-F5344CB8AC3E}">
        <p14:creationId xmlns:p14="http://schemas.microsoft.com/office/powerpoint/2010/main" val="2829520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BA47A-2FF7-FDE7-479B-F88C9F67D332}"/>
              </a:ext>
            </a:extLst>
          </p:cNvPr>
          <p:cNvSpPr>
            <a:spLocks noGrp="1"/>
          </p:cNvSpPr>
          <p:nvPr>
            <p:ph type="title"/>
          </p:nvPr>
        </p:nvSpPr>
        <p:spPr>
          <a:xfrm>
            <a:off x="684212" y="0"/>
            <a:ext cx="10058400" cy="1801368"/>
          </a:xfrm>
        </p:spPr>
        <p:txBody>
          <a:bodyPr/>
          <a:lstStyle/>
          <a:p>
            <a:r>
              <a:rPr lang="en-IN" b="1" dirty="0">
                <a:solidFill>
                  <a:schemeClr val="bg1"/>
                </a:solidFill>
              </a:rPr>
              <a:t>References</a:t>
            </a:r>
          </a:p>
        </p:txBody>
      </p:sp>
      <p:sp>
        <p:nvSpPr>
          <p:cNvPr id="3" name="Text Placeholder 2">
            <a:extLst>
              <a:ext uri="{FF2B5EF4-FFF2-40B4-BE49-F238E27FC236}">
                <a16:creationId xmlns:a16="http://schemas.microsoft.com/office/drawing/2014/main" id="{F9B0A677-4F00-C197-0672-AB0B48AD8E3A}"/>
              </a:ext>
            </a:extLst>
          </p:cNvPr>
          <p:cNvSpPr>
            <a:spLocks noGrp="1"/>
          </p:cNvSpPr>
          <p:nvPr>
            <p:ph type="body" idx="1"/>
          </p:nvPr>
        </p:nvSpPr>
        <p:spPr>
          <a:xfrm>
            <a:off x="684212" y="1463040"/>
            <a:ext cx="8535988" cy="4873752"/>
          </a:xfrm>
        </p:spPr>
        <p:txBody>
          <a:bodyPr>
            <a:normAutofit fontScale="92500" lnSpcReduction="10000"/>
          </a:bodyPr>
          <a:lstStyle/>
          <a:p>
            <a:pPr marL="342900" indent="-342900">
              <a:buFont typeface="Arial" panose="020B0604020202020204" pitchFamily="34" charset="0"/>
              <a:buChar char="•"/>
            </a:pPr>
            <a:r>
              <a:rPr lang="en-US" dirty="0" err="1">
                <a:solidFill>
                  <a:schemeClr val="tx1"/>
                </a:solidFill>
              </a:rPr>
              <a:t>Alshboul</a:t>
            </a:r>
            <a:r>
              <a:rPr lang="en-US" dirty="0">
                <a:solidFill>
                  <a:schemeClr val="tx1"/>
                </a:solidFill>
              </a:rPr>
              <a:t>, R. A., </a:t>
            </a:r>
            <a:r>
              <a:rPr lang="en-US" dirty="0" err="1">
                <a:solidFill>
                  <a:schemeClr val="tx1"/>
                </a:solidFill>
              </a:rPr>
              <a:t>Almomani</a:t>
            </a:r>
            <a:r>
              <a:rPr lang="en-US" dirty="0">
                <a:solidFill>
                  <a:schemeClr val="tx1"/>
                </a:solidFill>
              </a:rPr>
              <a:t>, A., &amp; Al-</a:t>
            </a:r>
            <a:r>
              <a:rPr lang="en-US" dirty="0" err="1">
                <a:solidFill>
                  <a:schemeClr val="tx1"/>
                </a:solidFill>
              </a:rPr>
              <a:t>Kasasbeh</a:t>
            </a:r>
            <a:r>
              <a:rPr lang="en-US" dirty="0">
                <a:solidFill>
                  <a:schemeClr val="tx1"/>
                </a:solidFill>
              </a:rPr>
              <a:t>, A. (2021). Phishing website detection using machine learning. Journal of Information Security and Applications, 59, 102808. </a:t>
            </a:r>
            <a:r>
              <a:rPr lang="en-US" dirty="0">
                <a:solidFill>
                  <a:schemeClr val="tx1"/>
                </a:solidFill>
                <a:hlinkClick r:id="rId2">
                  <a:extLst>
                    <a:ext uri="{A12FA001-AC4F-418D-AE19-62706E023703}">
                      <ahyp:hlinkClr xmlns:ahyp="http://schemas.microsoft.com/office/drawing/2018/hyperlinkcolor" val="tx"/>
                    </a:ext>
                  </a:extLst>
                </a:hlinkClick>
              </a:rPr>
              <a:t>https://doi.org/10.1016/j.jisa.2021.102808</a:t>
            </a:r>
            <a:endParaRPr lang="en-US" dirty="0">
              <a:solidFill>
                <a:schemeClr val="tx1"/>
              </a:solidFill>
            </a:endParaRPr>
          </a:p>
          <a:p>
            <a:pPr marL="342900" indent="-342900">
              <a:buFont typeface="Arial" panose="020B0604020202020204" pitchFamily="34" charset="0"/>
              <a:buChar char="•"/>
            </a:pPr>
            <a:r>
              <a:rPr lang="en-US" dirty="0" err="1">
                <a:solidFill>
                  <a:schemeClr val="tx1"/>
                </a:solidFill>
              </a:rPr>
              <a:t>Chiew</a:t>
            </a:r>
            <a:r>
              <a:rPr lang="en-US" dirty="0">
                <a:solidFill>
                  <a:schemeClr val="tx1"/>
                </a:solidFill>
              </a:rPr>
              <a:t>, K. L., Tan, C. L., Wong, K. Y., &amp; Yong, K. S. C. (2019). A new hybrid ensemble feature selection framework for machine learning-based phishing detection system. Information Sciences, 484, 153-166. </a:t>
            </a:r>
            <a:r>
              <a:rPr lang="en-US" dirty="0">
                <a:solidFill>
                  <a:schemeClr val="tx1"/>
                </a:solidFill>
                <a:hlinkClick r:id="rId3">
                  <a:extLst>
                    <a:ext uri="{A12FA001-AC4F-418D-AE19-62706E023703}">
                      <ahyp:hlinkClr xmlns:ahyp="http://schemas.microsoft.com/office/drawing/2018/hyperlinkcolor" val="tx"/>
                    </a:ext>
                  </a:extLst>
                </a:hlinkClick>
              </a:rPr>
              <a:t>https://doi.org/10.1016/j.ins.2019.01.046</a:t>
            </a:r>
            <a:endParaRPr lang="en-US" dirty="0">
              <a:solidFill>
                <a:schemeClr val="tx1"/>
              </a:solidFill>
            </a:endParaRPr>
          </a:p>
          <a:p>
            <a:pPr marL="342900" indent="-342900">
              <a:buFont typeface="Arial" panose="020B0604020202020204" pitchFamily="34" charset="0"/>
              <a:buChar char="•"/>
            </a:pPr>
            <a:r>
              <a:rPr lang="en-US" dirty="0">
                <a:solidFill>
                  <a:schemeClr val="tx1"/>
                </a:solidFill>
              </a:rPr>
              <a:t>Gupta, B. B., Tewari, A., Jain, A. K., &amp; Agrawal, D. P. (2017). Fighting against phishing attacks: State of the art and future challenges. Neural Computing and Applications, 28(12), 3629-3654.  </a:t>
            </a:r>
            <a:r>
              <a:rPr lang="en-US" dirty="0">
                <a:solidFill>
                  <a:schemeClr val="tx1"/>
                </a:solidFill>
                <a:hlinkClick r:id="rId4">
                  <a:extLst>
                    <a:ext uri="{A12FA001-AC4F-418D-AE19-62706E023703}">
                      <ahyp:hlinkClr xmlns:ahyp="http://schemas.microsoft.com/office/drawing/2018/hyperlinkcolor" val="tx"/>
                    </a:ext>
                  </a:extLst>
                </a:hlinkClick>
              </a:rPr>
              <a:t>https://doi.org/10.1007/s00521-016-2275-y</a:t>
            </a:r>
            <a:endParaRPr lang="en-US" dirty="0">
              <a:solidFill>
                <a:schemeClr val="tx1"/>
              </a:solidFill>
            </a:endParaRPr>
          </a:p>
          <a:p>
            <a:pPr marL="342900" indent="-342900">
              <a:buFont typeface="Arial" panose="020B0604020202020204" pitchFamily="34" charset="0"/>
              <a:buChar char="•"/>
            </a:pPr>
            <a:r>
              <a:rPr lang="en-US" dirty="0">
                <a:solidFill>
                  <a:schemeClr val="tx1"/>
                </a:solidFill>
              </a:rPr>
              <a:t>Mohammad, R. M., McCluskey, T. L., &amp; </a:t>
            </a:r>
            <a:r>
              <a:rPr lang="en-US" dirty="0" err="1">
                <a:solidFill>
                  <a:schemeClr val="tx1"/>
                </a:solidFill>
              </a:rPr>
              <a:t>Thabtah</a:t>
            </a:r>
            <a:r>
              <a:rPr lang="en-US" dirty="0">
                <a:solidFill>
                  <a:schemeClr val="tx1"/>
                </a:solidFill>
              </a:rPr>
              <a:t>, F. (2014). Predicting phishing websites using classification mining techniques with experimental case studies. Proceedings of the IEEE International Conference on Intelligence and Security Informatics, 4(1), 12-22.</a:t>
            </a:r>
            <a:endParaRPr lang="en-IN" dirty="0">
              <a:solidFill>
                <a:schemeClr val="tx1"/>
              </a:solidFill>
            </a:endParaRPr>
          </a:p>
        </p:txBody>
      </p:sp>
    </p:spTree>
    <p:extLst>
      <p:ext uri="{BB962C8B-B14F-4D97-AF65-F5344CB8AC3E}">
        <p14:creationId xmlns:p14="http://schemas.microsoft.com/office/powerpoint/2010/main" val="1789675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8C6B-7554-D22E-4E54-2542349FCC29}"/>
              </a:ext>
            </a:extLst>
          </p:cNvPr>
          <p:cNvSpPr>
            <a:spLocks noGrp="1"/>
          </p:cNvSpPr>
          <p:nvPr>
            <p:ph type="title"/>
          </p:nvPr>
        </p:nvSpPr>
        <p:spPr>
          <a:xfrm>
            <a:off x="3657600" y="2128180"/>
            <a:ext cx="8534400" cy="1507067"/>
          </a:xfrm>
        </p:spPr>
        <p:txBody>
          <a:bodyPr>
            <a:normAutofit/>
          </a:bodyPr>
          <a:lstStyle/>
          <a:p>
            <a:r>
              <a:rPr lang="en-IN" sz="4400" dirty="0"/>
              <a:t>Thank you!</a:t>
            </a:r>
          </a:p>
        </p:txBody>
      </p:sp>
    </p:spTree>
    <p:extLst>
      <p:ext uri="{BB962C8B-B14F-4D97-AF65-F5344CB8AC3E}">
        <p14:creationId xmlns:p14="http://schemas.microsoft.com/office/powerpoint/2010/main" val="3856809736"/>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FDEB4C-941C-4EBE-9462-062D8A0ADE9E}">
  <ds:schemaRefs>
    <ds:schemaRef ds:uri="http://schemas.microsoft.com/sharepoint/v3/contenttype/forms"/>
  </ds:schemaRefs>
</ds:datastoreItem>
</file>

<file path=customXml/itemProps2.xml><?xml version="1.0" encoding="utf-8"?>
<ds:datastoreItem xmlns:ds="http://schemas.openxmlformats.org/officeDocument/2006/customXml" ds:itemID="{60B414F3-C833-4395-8C69-0E806C51817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0B8EF33-82AA-4779-AFAA-C56669D00D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Slice design</Template>
  <TotalTime>133</TotalTime>
  <Words>936</Words>
  <Application>Microsoft Macintosh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Wingdings 3</vt:lpstr>
      <vt:lpstr>Slice</vt:lpstr>
      <vt:lpstr>ALY 6140: Capstone Project  Phishing URL Detection Using  Machine Learning</vt:lpstr>
      <vt:lpstr>CONTENTS</vt:lpstr>
      <vt:lpstr>Introduction and Project Overview </vt:lpstr>
      <vt:lpstr>Descriptive Analysis</vt:lpstr>
      <vt:lpstr>Methodology</vt:lpstr>
      <vt:lpstr>Exploratory Data Analysis (EDA)</vt:lpstr>
      <vt:lpstr>PowerPoint Presentation</vt:lpstr>
      <vt:lpstr>Model performances:</vt:lpstr>
      <vt:lpstr>Result Evaluation </vt:lpstr>
      <vt:lpstr>PowerPoint Presentation</vt:lpstr>
      <vt:lpstr>Key findings</vt:lpstr>
      <vt:lpstr>Recommendations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ALY 6140: Capstone Project  Phishing URL Detection Using  Machine Learning</dc:title>
  <dc:creator>Alluri Satya</dc:creator>
  <cp:lastModifiedBy>Dhruv Rajendrakumar Patel</cp:lastModifiedBy>
  <cp:revision>4</cp:revision>
  <dcterms:created xsi:type="dcterms:W3CDTF">2024-10-26T20:06:26Z</dcterms:created>
  <dcterms:modified xsi:type="dcterms:W3CDTF">2024-10-27T01:30:45Z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